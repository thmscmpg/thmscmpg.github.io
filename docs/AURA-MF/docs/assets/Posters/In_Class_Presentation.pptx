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2" r:id="rId3"/>
  </p:sldMasterIdLst>
  <p:notesMasterIdLst>
    <p:notesMasterId r:id="rId24"/>
  </p:notesMasterIdLst>
  <p:sldIdLst>
    <p:sldId id="256" r:id="rId4"/>
    <p:sldId id="257" r:id="rId5"/>
    <p:sldId id="259" r:id="rId6"/>
    <p:sldId id="263" r:id="rId7"/>
    <p:sldId id="260" r:id="rId8"/>
    <p:sldId id="258" r:id="rId9"/>
    <p:sldId id="261" r:id="rId10"/>
    <p:sldId id="262"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embeddedFontLst>
    <p:embeddedFont>
      <p:font typeface="Lustria" panose="02000603060000020004" pitchFamily="2" charset="0"/>
      <p:regular r:id="rId25"/>
    </p:embeddedFont>
    <p:embeddedFont>
      <p:font typeface="Open Sans" panose="020B0606030504020204" pitchFamily="34" charset="0"/>
      <p:regular r:id="rId26"/>
      <p:bold r:id="rId27"/>
      <p:italic r:id="rId28"/>
      <p:boldItalic r:id="rId29"/>
    </p:embeddedFont>
    <p:embeddedFont>
      <p:font typeface="Play" pitchFamily="2"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hQsFBmi5Zzvld7Rdl5LJXDQ5HIB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94694"/>
  </p:normalViewPr>
  <p:slideViewPr>
    <p:cSldViewPr snapToGrid="0">
      <p:cViewPr>
        <p:scale>
          <a:sx n="291" d="100"/>
          <a:sy n="291" d="100"/>
        </p:scale>
        <p:origin x="-8232" y="-19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32"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d3c986cf74_3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Goal: apply Forward Euler and Improved Euler, compare accuracy, study convergence.</a:t>
            </a:r>
            <a:endParaRPr dirty="0"/>
          </a:p>
        </p:txBody>
      </p:sp>
      <p:sp>
        <p:nvSpPr>
          <p:cNvPr id="173" name="Google Shape;173;g3d3c986cf74_3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d3c986cf74_3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Key insight: </a:t>
            </a:r>
            <a:r>
              <a:rPr lang="el-GR" sz="1100" b="0" i="0" u="none" strike="noStrike" cap="none" dirty="0">
                <a:solidFill>
                  <a:srgbClr val="000000"/>
                </a:solidFill>
                <a:effectLst/>
                <a:latin typeface="Arial"/>
                <a:ea typeface="Arial"/>
                <a:cs typeface="Arial"/>
                <a:sym typeface="Arial"/>
              </a:rPr>
              <a:t>α − η = 0.9 − 0.18 = 0.72 </a:t>
            </a:r>
            <a:r>
              <a:rPr lang="en-US" sz="1100" b="0" i="0" u="none" strike="noStrike" cap="none" dirty="0">
                <a:solidFill>
                  <a:srgbClr val="000000"/>
                </a:solidFill>
                <a:effectLst/>
                <a:latin typeface="Arial"/>
                <a:ea typeface="Arial"/>
                <a:cs typeface="Arial"/>
                <a:sym typeface="Arial"/>
              </a:rPr>
              <a:t>is the net fraction of absorbed solar energy that becomes heat.</a:t>
            </a:r>
            <a:endParaRPr dirty="0"/>
          </a:p>
        </p:txBody>
      </p:sp>
      <p:sp>
        <p:nvSpPr>
          <p:cNvPr id="183" name="Google Shape;183;g3d3c986cf74_3_10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d3c986cf74_3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d-T-d-t equals one over m-c-p, times the net solar input minus the convective loss</a:t>
            </a:r>
            <a:endParaRPr dirty="0"/>
          </a:p>
        </p:txBody>
      </p:sp>
      <p:sp>
        <p:nvSpPr>
          <p:cNvPr id="195" name="Google Shape;195;g3d3c986cf74_3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d3c986cf74_3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exponential term represents the transient: it starts at (T₀ − </a:t>
            </a:r>
            <a:r>
              <a:rPr lang="en-US" sz="1100" b="0" i="0" u="none" strike="noStrike" cap="none" dirty="0" err="1">
                <a:solidFill>
                  <a:srgbClr val="000000"/>
                </a:solidFill>
                <a:effectLst/>
                <a:latin typeface="Arial"/>
                <a:ea typeface="Arial"/>
                <a:cs typeface="Arial"/>
                <a:sym typeface="Arial"/>
              </a:rPr>
              <a:t>T_ss</a:t>
            </a:r>
            <a:r>
              <a:rPr lang="en-US" sz="1100" b="0" i="0" u="none" strike="noStrike" cap="none" dirty="0">
                <a:solidFill>
                  <a:srgbClr val="000000"/>
                </a:solidFill>
                <a:effectLst/>
                <a:latin typeface="Arial"/>
                <a:ea typeface="Arial"/>
                <a:cs typeface="Arial"/>
                <a:sym typeface="Arial"/>
              </a:rPr>
              <a:t>) and decays to zero</a:t>
            </a:r>
            <a:endParaRPr dirty="0"/>
          </a:p>
        </p:txBody>
      </p:sp>
      <p:sp>
        <p:nvSpPr>
          <p:cNvPr id="219" name="Google Shape;219;g3d3c986cf74_3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d3c986cf74_3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T⁴ dependence makes this nonlinear — no closed-form solution exists.</a:t>
            </a:r>
            <a:endParaRPr dirty="0"/>
          </a:p>
        </p:txBody>
      </p:sp>
      <p:sp>
        <p:nvSpPr>
          <p:cNvPr id="201" name="Google Shape;201;g3d3c986cf74_3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d42838877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h = 50 s, n = 72 steps → 1 hour of simulation. We also tested h ≈ 100 s (37 pts) and h = 10 s (361 pts).</a:t>
            </a:r>
            <a:endParaRPr dirty="0"/>
          </a:p>
        </p:txBody>
      </p:sp>
      <p:sp>
        <p:nvSpPr>
          <p:cNvPr id="189" name="Google Shape;189;g3d42838877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d3c986cf74_3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Forward Euler: one slope evaluation per step — O(h) accuracy. Improved Euler (Heun): k1 predicts, k2 corrects — O(h²). Same computation but one extra function call per step.</a:t>
            </a:r>
            <a:endParaRPr dirty="0"/>
          </a:p>
        </p:txBody>
      </p:sp>
      <p:sp>
        <p:nvSpPr>
          <p:cNvPr id="207" name="Google Shape;207;g3d3c986cf74_3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d3c986cf74_3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identical loop structure; only the function w(</a:t>
            </a:r>
            <a:r>
              <a:rPr lang="en-US" dirty="0" err="1"/>
              <a:t>x,y</a:t>
            </a:r>
            <a:r>
              <a:rPr lang="en-US" dirty="0"/>
              <a:t>) changes to include the radiation term. No exact solution available, so errors are measured as the </a:t>
            </a:r>
            <a:r>
              <a:rPr lang="en-US" i="1" dirty="0"/>
              <a:t>difference between the two methods</a:t>
            </a:r>
            <a:r>
              <a:rPr lang="en-US" dirty="0"/>
              <a:t>.</a:t>
            </a:r>
            <a:endParaRPr dirty="0"/>
          </a:p>
        </p:txBody>
      </p:sp>
      <p:sp>
        <p:nvSpPr>
          <p:cNvPr id="213" name="Google Shape;213;g3d3c986cf74_3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3c986cf74_3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3d3c986cf74_3_1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d3c986cf74_3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3d3c986cf74_3_1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d3c986cf74_3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g3d3c986cf74_3_1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d3c986cf74_3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horizontal band </a:t>
            </a:r>
            <a:r>
              <a:rPr lang="en-US" b="0" i="1" u="none" strike="noStrike" dirty="0">
                <a:solidFill>
                  <a:srgbClr val="000000"/>
                </a:solidFill>
                <a:effectLst/>
              </a:rPr>
              <a:t>is</a:t>
            </a:r>
            <a:r>
              <a:rPr lang="en-US" sz="1100" b="0" i="0" u="none" strike="noStrike" cap="none" dirty="0">
                <a:solidFill>
                  <a:srgbClr val="000000"/>
                </a:solidFill>
                <a:effectLst/>
                <a:latin typeface="Arial"/>
                <a:ea typeface="Arial"/>
                <a:cs typeface="Arial"/>
                <a:sym typeface="Arial"/>
              </a:rPr>
              <a:t> the equilibrium — this visually confirms </a:t>
            </a:r>
            <a:r>
              <a:rPr lang="en-US" sz="1100" b="0" i="0" u="none" strike="noStrike" cap="none" dirty="0" err="1">
                <a:solidFill>
                  <a:srgbClr val="000000"/>
                </a:solidFill>
                <a:effectLst/>
                <a:latin typeface="Arial"/>
                <a:ea typeface="Arial"/>
                <a:cs typeface="Arial"/>
                <a:sym typeface="Arial"/>
              </a:rPr>
              <a:t>T_ss</a:t>
            </a:r>
            <a:r>
              <a:rPr lang="en-US" sz="1100" b="0" i="0" u="none" strike="noStrike" cap="none" dirty="0">
                <a:solidFill>
                  <a:srgbClr val="000000"/>
                </a:solidFill>
                <a:effectLst/>
                <a:latin typeface="Arial"/>
                <a:ea typeface="Arial"/>
                <a:cs typeface="Arial"/>
                <a:sym typeface="Arial"/>
              </a:rPr>
              <a:t> without solving anything</a:t>
            </a:r>
            <a:endParaRPr dirty="0"/>
          </a:p>
        </p:txBody>
      </p:sp>
      <p:sp>
        <p:nvSpPr>
          <p:cNvPr id="249" name="Google Shape;249;g3d3c986cf74_3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d3c986cf74_3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nonlinear field is qualitatively identical; radiation only shifts the equilibrium value, not the stability.</a:t>
            </a:r>
            <a:endParaRPr dirty="0"/>
          </a:p>
        </p:txBody>
      </p:sp>
      <p:sp>
        <p:nvSpPr>
          <p:cNvPr id="255" name="Google Shape;255;g3d3c986cf74_3_1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we identified five potential avenues for future investigation: </a:t>
            </a:r>
          </a:p>
          <a:p>
            <a:r>
              <a:rPr lang="en-US" sz="1100" b="0" i="0" u="none" strike="noStrike" cap="none" dirty="0">
                <a:solidFill>
                  <a:srgbClr val="000000"/>
                </a:solidFill>
                <a:effectLst/>
                <a:latin typeface="Arial"/>
                <a:ea typeface="Arial"/>
                <a:cs typeface="Arial"/>
                <a:sym typeface="Arial"/>
              </a:rPr>
              <a:t>Runge Kutta-4, Monte Carlo Quantification, A Coupled Thermal Electrical Model, Time-varying irradiance, and lastly A coupled model of atmospheric properties</a:t>
            </a:r>
            <a:endParaRPr lang="en-US" dirty="0"/>
          </a:p>
        </p:txBody>
      </p:sp>
    </p:spTree>
    <p:extLst>
      <p:ext uri="{BB962C8B-B14F-4D97-AF65-F5344CB8AC3E}">
        <p14:creationId xmlns:p14="http://schemas.microsoft.com/office/powerpoint/2010/main" val="4285953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1799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A Monte Carlo approach would draw random samples from probability distributions for each parameter, run the nonlinear ODE thousands of times using Improved Euler, and construct probability distributions for the predicted temperature trajectory. </a:t>
            </a:r>
          </a:p>
          <a:p>
            <a:endParaRPr lang="en-US" dirty="0"/>
          </a:p>
        </p:txBody>
      </p:sp>
    </p:spTree>
    <p:extLst>
      <p:ext uri="{BB962C8B-B14F-4D97-AF65-F5344CB8AC3E}">
        <p14:creationId xmlns:p14="http://schemas.microsoft.com/office/powerpoint/2010/main" val="2359792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efficiency drops ~0.45%/K for silicon — creates a positive feedback loop raising equilibrium temperature.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Substituting this into the ODE creates a feedback loop: higher T reduces </a:t>
            </a:r>
            <a:r>
              <a:rPr lang="en-US" dirty="0" err="1"/>
              <a:t>η</a:t>
            </a:r>
            <a:r>
              <a:rPr lang="en-US" dirty="0"/>
              <a:t>, which increases net heat absorption, which further raises T. </a:t>
            </a:r>
          </a:p>
          <a:p>
            <a:endParaRPr lang="en-US" dirty="0"/>
          </a:p>
        </p:txBody>
      </p:sp>
    </p:spTree>
    <p:extLst>
      <p:ext uri="{BB962C8B-B14F-4D97-AF65-F5344CB8AC3E}">
        <p14:creationId xmlns:p14="http://schemas.microsoft.com/office/powerpoint/2010/main" val="2104562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Night cooling and morning warm-up cycles could be simulated, and integration over the daily temperature profile would allow direct prediction of daily energy harvest.</a:t>
            </a:r>
          </a:p>
          <a:p>
            <a:endParaRPr lang="en-US" dirty="0"/>
          </a:p>
        </p:txBody>
      </p:sp>
    </p:spTree>
    <p:extLst>
      <p:ext uri="{BB962C8B-B14F-4D97-AF65-F5344CB8AC3E}">
        <p14:creationId xmlns:p14="http://schemas.microsoft.com/office/powerpoint/2010/main" val="3181783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Boltzmann Transport Equation (BTE) governs photon transport through scattering/absorbing media and could model how clouds, aerosols, and water vapor attenuate G before it reaches the panel surface.</a:t>
            </a:r>
          </a:p>
          <a:p>
            <a:r>
              <a:rPr lang="en-US" dirty="0"/>
              <a:t>The Navier-Stokes equations could replace the </a:t>
            </a:r>
            <a:r>
              <a:rPr lang="en-US" dirty="0" err="1"/>
              <a:t>h_conv</a:t>
            </a:r>
            <a:r>
              <a:rPr lang="en-US" dirty="0"/>
              <a:t> with a spatially-resolved convective boundary layer model, capturing how wind speed, temperature gradients, and local air density vary across the panel surface. </a:t>
            </a:r>
          </a:p>
          <a:p>
            <a:endParaRPr lang="en-US" dirty="0"/>
          </a:p>
        </p:txBody>
      </p:sp>
    </p:spTree>
    <p:extLst>
      <p:ext uri="{BB962C8B-B14F-4D97-AF65-F5344CB8AC3E}">
        <p14:creationId xmlns:p14="http://schemas.microsoft.com/office/powerpoint/2010/main" val="24560417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Three takeaways: both methods converge; Improved Euler consistently outperforms Forward Euler; nonlinear ODE shows the same qualitative stability.</a:t>
            </a:r>
            <a:endParaRPr lang="en-US" dirty="0"/>
          </a:p>
        </p:txBody>
      </p:sp>
    </p:spTree>
    <p:extLst>
      <p:ext uri="{BB962C8B-B14F-4D97-AF65-F5344CB8AC3E}">
        <p14:creationId xmlns:p14="http://schemas.microsoft.com/office/powerpoint/2010/main" val="505903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8"/>
        <p:cNvGrpSpPr/>
        <p:nvPr/>
      </p:nvGrpSpPr>
      <p:grpSpPr>
        <a:xfrm>
          <a:off x="0" y="0"/>
          <a:ext cx="0" cy="0"/>
          <a:chOff x="0" y="0"/>
          <a:chExt cx="0" cy="0"/>
        </a:xfrm>
      </p:grpSpPr>
      <p:sp>
        <p:nvSpPr>
          <p:cNvPr id="89" name="Google Shape;89;g3d3c986cf74_3_8"/>
          <p:cNvSpPr txBox="1">
            <a:spLocks noGrp="1"/>
          </p:cNvSpPr>
          <p:nvPr>
            <p:ph type="ctrTitle"/>
          </p:nvPr>
        </p:nvSpPr>
        <p:spPr>
          <a:xfrm>
            <a:off x="704088" y="889820"/>
            <a:ext cx="9989574" cy="359860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lt1"/>
              </a:buClr>
              <a:buSzPts val="5400"/>
              <a:buFont typeface="Open San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d3c986cf74_3_8"/>
          <p:cNvSpPr txBox="1">
            <a:spLocks noGrp="1"/>
          </p:cNvSpPr>
          <p:nvPr>
            <p:ph type="subTitle" idx="1"/>
          </p:nvPr>
        </p:nvSpPr>
        <p:spPr>
          <a:xfrm>
            <a:off x="704088" y="4488426"/>
            <a:ext cx="6991776" cy="1302774"/>
          </a:xfrm>
          <a:prstGeom prst="rect">
            <a:avLst/>
          </a:prstGeom>
          <a:noFill/>
          <a:ln>
            <a:noFill/>
          </a:ln>
        </p:spPr>
        <p:txBody>
          <a:bodyPr spcFirstLastPara="1" wrap="square" lIns="91425" tIns="45700" rIns="91425" bIns="45700" anchor="b" anchorCtr="0">
            <a:normAutofit/>
          </a:bodyPr>
          <a:lstStyle>
            <a:lvl1pPr lvl="0" algn="l">
              <a:lnSpc>
                <a:spcPct val="110000"/>
              </a:lnSpc>
              <a:spcBef>
                <a:spcPts val="1000"/>
              </a:spcBef>
              <a:spcAft>
                <a:spcPts val="0"/>
              </a:spcAft>
              <a:buClr>
                <a:schemeClr val="lt1"/>
              </a:buClr>
              <a:buSzPts val="2000"/>
              <a:buNone/>
              <a:defRPr sz="20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91" name="Google Shape;91;g3d3c986cf74_3_8"/>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g3d3c986cf74_3_8"/>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g3d3c986cf74_3_8"/>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2"/>
        <p:cNvGrpSpPr/>
        <p:nvPr/>
      </p:nvGrpSpPr>
      <p:grpSpPr>
        <a:xfrm>
          <a:off x="0" y="0"/>
          <a:ext cx="0" cy="0"/>
          <a:chOff x="0" y="0"/>
          <a:chExt cx="0" cy="0"/>
        </a:xfrm>
      </p:grpSpPr>
      <p:sp>
        <p:nvSpPr>
          <p:cNvPr id="103" name="Google Shape;103;g3d3c986cf74_3_32"/>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g3d3c986cf74_3_32"/>
          <p:cNvSpPr txBox="1">
            <a:spLocks noGrp="1"/>
          </p:cNvSpPr>
          <p:nvPr>
            <p:ph type="body" idx="1"/>
          </p:nvPr>
        </p:nvSpPr>
        <p:spPr>
          <a:xfrm>
            <a:off x="700635" y="2221992"/>
            <a:ext cx="10691265" cy="373989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g3d3c986cf74_3_32"/>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g3d3c986cf74_3_32"/>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g3d3c986cf74_3_32"/>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8"/>
        <p:cNvGrpSpPr/>
        <p:nvPr/>
      </p:nvGrpSpPr>
      <p:grpSpPr>
        <a:xfrm>
          <a:off x="0" y="0"/>
          <a:ext cx="0" cy="0"/>
          <a:chOff x="0" y="0"/>
          <a:chExt cx="0" cy="0"/>
        </a:xfrm>
      </p:grpSpPr>
      <p:sp>
        <p:nvSpPr>
          <p:cNvPr id="109" name="Google Shape;109;g3d3c986cf74_3_38"/>
          <p:cNvSpPr txBox="1">
            <a:spLocks noGrp="1"/>
          </p:cNvSpPr>
          <p:nvPr>
            <p:ph type="ctrTitle"/>
          </p:nvPr>
        </p:nvSpPr>
        <p:spPr>
          <a:xfrm>
            <a:off x="704088" y="889820"/>
            <a:ext cx="9989574" cy="359860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5400"/>
              <a:buFont typeface="Open San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g3d3c986cf74_3_38"/>
          <p:cNvSpPr txBox="1">
            <a:spLocks noGrp="1"/>
          </p:cNvSpPr>
          <p:nvPr>
            <p:ph type="subTitle" idx="1"/>
          </p:nvPr>
        </p:nvSpPr>
        <p:spPr>
          <a:xfrm>
            <a:off x="704088" y="4488426"/>
            <a:ext cx="6991776" cy="1302774"/>
          </a:xfrm>
          <a:prstGeom prst="rect">
            <a:avLst/>
          </a:prstGeom>
          <a:noFill/>
          <a:ln>
            <a:noFill/>
          </a:ln>
        </p:spPr>
        <p:txBody>
          <a:bodyPr spcFirstLastPara="1" wrap="square" lIns="91425" tIns="45700" rIns="91425" bIns="45700" anchor="b" anchorCtr="0">
            <a:normAutofit/>
          </a:bodyPr>
          <a:lstStyle>
            <a:lvl1pPr lvl="0" algn="l">
              <a:lnSpc>
                <a:spcPct val="110000"/>
              </a:lnSpc>
              <a:spcBef>
                <a:spcPts val="1000"/>
              </a:spcBef>
              <a:spcAft>
                <a:spcPts val="0"/>
              </a:spcAft>
              <a:buClr>
                <a:schemeClr val="dk1"/>
              </a:buClr>
              <a:buSzPts val="2000"/>
              <a:buNone/>
              <a:defRPr sz="20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11" name="Google Shape;111;g3d3c986cf74_3_38"/>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g3d3c986cf74_3_38"/>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g3d3c986cf74_3_38"/>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4"/>
        <p:cNvGrpSpPr/>
        <p:nvPr/>
      </p:nvGrpSpPr>
      <p:grpSpPr>
        <a:xfrm>
          <a:off x="0" y="0"/>
          <a:ext cx="0" cy="0"/>
          <a:chOff x="0" y="0"/>
          <a:chExt cx="0" cy="0"/>
        </a:xfrm>
      </p:grpSpPr>
      <p:sp>
        <p:nvSpPr>
          <p:cNvPr id="115" name="Google Shape;115;g3d3c986cf74_3_44"/>
          <p:cNvSpPr txBox="1">
            <a:spLocks noGrp="1"/>
          </p:cNvSpPr>
          <p:nvPr>
            <p:ph type="title"/>
          </p:nvPr>
        </p:nvSpPr>
        <p:spPr>
          <a:xfrm>
            <a:off x="715383" y="1709738"/>
            <a:ext cx="10632067" cy="285273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6000"/>
              <a:buFont typeface="Open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g3d3c986cf74_3_44"/>
          <p:cNvSpPr txBox="1">
            <a:spLocks noGrp="1"/>
          </p:cNvSpPr>
          <p:nvPr>
            <p:ph type="body" idx="1"/>
          </p:nvPr>
        </p:nvSpPr>
        <p:spPr>
          <a:xfrm>
            <a:off x="715383" y="4589463"/>
            <a:ext cx="10632067"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7" name="Google Shape;117;g3d3c986cf74_3_44"/>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g3d3c986cf74_3_44"/>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g3d3c986cf74_3_44"/>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0"/>
        <p:cNvGrpSpPr/>
        <p:nvPr/>
      </p:nvGrpSpPr>
      <p:grpSpPr>
        <a:xfrm>
          <a:off x="0" y="0"/>
          <a:ext cx="0" cy="0"/>
          <a:chOff x="0" y="0"/>
          <a:chExt cx="0" cy="0"/>
        </a:xfrm>
      </p:grpSpPr>
      <p:sp>
        <p:nvSpPr>
          <p:cNvPr id="121" name="Google Shape;121;g3d3c986cf74_3_50"/>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g3d3c986cf74_3_50"/>
          <p:cNvSpPr txBox="1">
            <a:spLocks noGrp="1"/>
          </p:cNvSpPr>
          <p:nvPr>
            <p:ph type="body" idx="1"/>
          </p:nvPr>
        </p:nvSpPr>
        <p:spPr>
          <a:xfrm>
            <a:off x="704088" y="2221992"/>
            <a:ext cx="5212080" cy="373989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g3d3c986cf74_3_50"/>
          <p:cNvSpPr txBox="1">
            <a:spLocks noGrp="1"/>
          </p:cNvSpPr>
          <p:nvPr>
            <p:ph type="body" idx="2"/>
          </p:nvPr>
        </p:nvSpPr>
        <p:spPr>
          <a:xfrm>
            <a:off x="6181344" y="2221992"/>
            <a:ext cx="5212080" cy="373989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g3d3c986cf74_3_50"/>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g3d3c986cf74_3_50"/>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g3d3c986cf74_3_50"/>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7"/>
        <p:cNvGrpSpPr/>
        <p:nvPr/>
      </p:nvGrpSpPr>
      <p:grpSpPr>
        <a:xfrm>
          <a:off x="0" y="0"/>
          <a:ext cx="0" cy="0"/>
          <a:chOff x="0" y="0"/>
          <a:chExt cx="0" cy="0"/>
        </a:xfrm>
      </p:grpSpPr>
      <p:sp>
        <p:nvSpPr>
          <p:cNvPr id="128" name="Google Shape;128;g3d3c986cf74_3_57"/>
          <p:cNvSpPr txBox="1">
            <a:spLocks noGrp="1"/>
          </p:cNvSpPr>
          <p:nvPr>
            <p:ph type="title"/>
          </p:nvPr>
        </p:nvSpPr>
        <p:spPr>
          <a:xfrm>
            <a:off x="704087" y="929147"/>
            <a:ext cx="10689336" cy="79845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g3d3c986cf74_3_57"/>
          <p:cNvSpPr txBox="1">
            <a:spLocks noGrp="1"/>
          </p:cNvSpPr>
          <p:nvPr>
            <p:ph type="body" idx="1"/>
          </p:nvPr>
        </p:nvSpPr>
        <p:spPr>
          <a:xfrm>
            <a:off x="704088" y="1756538"/>
            <a:ext cx="5212080" cy="657225"/>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600"/>
              <a:buNone/>
              <a:defRPr sz="1600" b="1">
                <a:latin typeface="Open Sans"/>
                <a:ea typeface="Open Sans"/>
                <a:cs typeface="Open Sans"/>
                <a:sym typeface="Open Sans"/>
              </a:defRPr>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0" name="Google Shape;130;g3d3c986cf74_3_57"/>
          <p:cNvSpPr txBox="1">
            <a:spLocks noGrp="1"/>
          </p:cNvSpPr>
          <p:nvPr>
            <p:ph type="body" idx="2"/>
          </p:nvPr>
        </p:nvSpPr>
        <p:spPr>
          <a:xfrm>
            <a:off x="704088" y="2442702"/>
            <a:ext cx="5212080" cy="351918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g3d3c986cf74_3_57"/>
          <p:cNvSpPr txBox="1">
            <a:spLocks noGrp="1"/>
          </p:cNvSpPr>
          <p:nvPr>
            <p:ph type="body" idx="3"/>
          </p:nvPr>
        </p:nvSpPr>
        <p:spPr>
          <a:xfrm>
            <a:off x="6181344" y="1756538"/>
            <a:ext cx="5212080" cy="657225"/>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1600"/>
              <a:buNone/>
              <a:defRPr sz="1600" b="1">
                <a:latin typeface="Open Sans"/>
                <a:ea typeface="Open Sans"/>
                <a:cs typeface="Open Sans"/>
                <a:sym typeface="Open Sans"/>
              </a:defRPr>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2" name="Google Shape;132;g3d3c986cf74_3_57"/>
          <p:cNvSpPr txBox="1">
            <a:spLocks noGrp="1"/>
          </p:cNvSpPr>
          <p:nvPr>
            <p:ph type="body" idx="4"/>
          </p:nvPr>
        </p:nvSpPr>
        <p:spPr>
          <a:xfrm>
            <a:off x="6181344" y="2442702"/>
            <a:ext cx="5212080" cy="351918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g3d3c986cf74_3_57"/>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g3d3c986cf74_3_57"/>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g3d3c986cf74_3_57"/>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6"/>
        <p:cNvGrpSpPr/>
        <p:nvPr/>
      </p:nvGrpSpPr>
      <p:grpSpPr>
        <a:xfrm>
          <a:off x="0" y="0"/>
          <a:ext cx="0" cy="0"/>
          <a:chOff x="0" y="0"/>
          <a:chExt cx="0" cy="0"/>
        </a:xfrm>
      </p:grpSpPr>
      <p:sp>
        <p:nvSpPr>
          <p:cNvPr id="137" name="Google Shape;137;g3d3c986cf74_3_66"/>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g3d3c986cf74_3_66"/>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g3d3c986cf74_3_66"/>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g3d3c986cf74_3_66"/>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1"/>
        <p:cNvGrpSpPr/>
        <p:nvPr/>
      </p:nvGrpSpPr>
      <p:grpSpPr>
        <a:xfrm>
          <a:off x="0" y="0"/>
          <a:ext cx="0" cy="0"/>
          <a:chOff x="0" y="0"/>
          <a:chExt cx="0" cy="0"/>
        </a:xfrm>
      </p:grpSpPr>
      <p:sp>
        <p:nvSpPr>
          <p:cNvPr id="142" name="Google Shape;142;g3d3c986cf74_3_71"/>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g3d3c986cf74_3_71"/>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g3d3c986cf74_3_71"/>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5"/>
        <p:cNvGrpSpPr/>
        <p:nvPr/>
      </p:nvGrpSpPr>
      <p:grpSpPr>
        <a:xfrm>
          <a:off x="0" y="0"/>
          <a:ext cx="0" cy="0"/>
          <a:chOff x="0" y="0"/>
          <a:chExt cx="0" cy="0"/>
        </a:xfrm>
      </p:grpSpPr>
      <p:sp>
        <p:nvSpPr>
          <p:cNvPr id="146" name="Google Shape;146;g3d3c986cf74_3_75"/>
          <p:cNvSpPr txBox="1">
            <a:spLocks noGrp="1"/>
          </p:cNvSpPr>
          <p:nvPr>
            <p:ph type="title"/>
          </p:nvPr>
        </p:nvSpPr>
        <p:spPr>
          <a:xfrm>
            <a:off x="704088" y="1069848"/>
            <a:ext cx="4093599" cy="1316736"/>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d3c986cf74_3_75"/>
          <p:cNvSpPr txBox="1">
            <a:spLocks noGrp="1"/>
          </p:cNvSpPr>
          <p:nvPr>
            <p:ph type="body" idx="1"/>
          </p:nvPr>
        </p:nvSpPr>
        <p:spPr>
          <a:xfrm>
            <a:off x="5183188" y="1069848"/>
            <a:ext cx="6172200" cy="4791202"/>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8" name="Google Shape;148;g3d3c986cf74_3_75"/>
          <p:cNvSpPr txBox="1">
            <a:spLocks noGrp="1"/>
          </p:cNvSpPr>
          <p:nvPr>
            <p:ph type="body" idx="2"/>
          </p:nvPr>
        </p:nvSpPr>
        <p:spPr>
          <a:xfrm>
            <a:off x="704088" y="2551176"/>
            <a:ext cx="4093599" cy="331927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g3d3c986cf74_3_75"/>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g3d3c986cf74_3_75"/>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g3d3c986cf74_3_75"/>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2"/>
        <p:cNvGrpSpPr/>
        <p:nvPr/>
      </p:nvGrpSpPr>
      <p:grpSpPr>
        <a:xfrm>
          <a:off x="0" y="0"/>
          <a:ext cx="0" cy="0"/>
          <a:chOff x="0" y="0"/>
          <a:chExt cx="0" cy="0"/>
        </a:xfrm>
      </p:grpSpPr>
      <p:sp>
        <p:nvSpPr>
          <p:cNvPr id="153" name="Google Shape;153;g3d3c986cf74_3_82"/>
          <p:cNvSpPr txBox="1">
            <a:spLocks noGrp="1"/>
          </p:cNvSpPr>
          <p:nvPr>
            <p:ph type="title"/>
          </p:nvPr>
        </p:nvSpPr>
        <p:spPr>
          <a:xfrm>
            <a:off x="704088" y="1066800"/>
            <a:ext cx="4103431" cy="131752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g3d3c986cf74_3_82"/>
          <p:cNvSpPr>
            <a:spLocks noGrp="1"/>
          </p:cNvSpPr>
          <p:nvPr>
            <p:ph type="pic" idx="2"/>
          </p:nvPr>
        </p:nvSpPr>
        <p:spPr>
          <a:xfrm>
            <a:off x="5183188" y="1066800"/>
            <a:ext cx="6172200" cy="4794250"/>
          </a:xfrm>
          <a:prstGeom prst="rect">
            <a:avLst/>
          </a:prstGeom>
          <a:noFill/>
          <a:ln>
            <a:noFill/>
          </a:ln>
        </p:spPr>
      </p:sp>
      <p:sp>
        <p:nvSpPr>
          <p:cNvPr id="155" name="Google Shape;155;g3d3c986cf74_3_82"/>
          <p:cNvSpPr txBox="1">
            <a:spLocks noGrp="1"/>
          </p:cNvSpPr>
          <p:nvPr>
            <p:ph type="body" idx="1"/>
          </p:nvPr>
        </p:nvSpPr>
        <p:spPr>
          <a:xfrm>
            <a:off x="704088" y="2552700"/>
            <a:ext cx="4103431" cy="33162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6" name="Google Shape;156;g3d3c986cf74_3_82"/>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g3d3c986cf74_3_82"/>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g3d3c986cf74_3_82"/>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9"/>
        <p:cNvGrpSpPr/>
        <p:nvPr/>
      </p:nvGrpSpPr>
      <p:grpSpPr>
        <a:xfrm>
          <a:off x="0" y="0"/>
          <a:ext cx="0" cy="0"/>
          <a:chOff x="0" y="0"/>
          <a:chExt cx="0" cy="0"/>
        </a:xfrm>
      </p:grpSpPr>
      <p:sp>
        <p:nvSpPr>
          <p:cNvPr id="160" name="Google Shape;160;g3d3c986cf74_3_89"/>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g3d3c986cf74_3_89"/>
          <p:cNvSpPr txBox="1">
            <a:spLocks noGrp="1"/>
          </p:cNvSpPr>
          <p:nvPr>
            <p:ph type="body" idx="1"/>
          </p:nvPr>
        </p:nvSpPr>
        <p:spPr>
          <a:xfrm rot="5400000">
            <a:off x="4176320" y="-1253693"/>
            <a:ext cx="3739896" cy="1069126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g3d3c986cf74_3_89"/>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g3d3c986cf74_3_89"/>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g3d3c986cf74_3_89"/>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5"/>
        <p:cNvGrpSpPr/>
        <p:nvPr/>
      </p:nvGrpSpPr>
      <p:grpSpPr>
        <a:xfrm>
          <a:off x="0" y="0"/>
          <a:ext cx="0" cy="0"/>
          <a:chOff x="0" y="0"/>
          <a:chExt cx="0" cy="0"/>
        </a:xfrm>
      </p:grpSpPr>
      <p:sp>
        <p:nvSpPr>
          <p:cNvPr id="166" name="Google Shape;166;g3d3c986cf74_3_95"/>
          <p:cNvSpPr txBox="1">
            <a:spLocks noGrp="1"/>
          </p:cNvSpPr>
          <p:nvPr>
            <p:ph type="title"/>
          </p:nvPr>
        </p:nvSpPr>
        <p:spPr>
          <a:xfrm rot="5400000">
            <a:off x="7924366" y="2315931"/>
            <a:ext cx="4984956" cy="2349043"/>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g3d3c986cf74_3_95"/>
          <p:cNvSpPr txBox="1">
            <a:spLocks noGrp="1"/>
          </p:cNvSpPr>
          <p:nvPr>
            <p:ph type="body" idx="1"/>
          </p:nvPr>
        </p:nvSpPr>
        <p:spPr>
          <a:xfrm rot="5400000">
            <a:off x="2513147" y="-746247"/>
            <a:ext cx="4984956" cy="847339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8" name="Google Shape;168;g3d3c986cf74_3_95"/>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g3d3c986cf74_3_95"/>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g3d3c986cf74_3_95"/>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0"/>
        <p:cNvGrpSpPr/>
        <p:nvPr/>
      </p:nvGrpSpPr>
      <p:grpSpPr>
        <a:xfrm>
          <a:off x="0" y="0"/>
          <a:ext cx="0" cy="0"/>
          <a:chOff x="0" y="0"/>
          <a:chExt cx="0" cy="0"/>
        </a:xfrm>
      </p:grpSpPr>
      <p:sp>
        <p:nvSpPr>
          <p:cNvPr id="81" name="Google Shape;81;g3d3c986cf74_3_0"/>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lt1"/>
              </a:buClr>
              <a:buSzPts val="4000"/>
              <a:buFont typeface="Open Sans"/>
              <a:buNone/>
              <a:defRPr sz="4000" b="0" i="0" u="none" strike="noStrike" cap="none">
                <a:solidFill>
                  <a:schemeClr val="lt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g3d3c986cf74_3_0"/>
          <p:cNvSpPr txBox="1">
            <a:spLocks noGrp="1"/>
          </p:cNvSpPr>
          <p:nvPr>
            <p:ph type="body" idx="1"/>
          </p:nvPr>
        </p:nvSpPr>
        <p:spPr>
          <a:xfrm>
            <a:off x="700635" y="2221992"/>
            <a:ext cx="10691265" cy="3739896"/>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10000"/>
              </a:lnSpc>
              <a:spcBef>
                <a:spcPts val="1000"/>
              </a:spcBef>
              <a:spcAft>
                <a:spcPts val="0"/>
              </a:spcAft>
              <a:buClr>
                <a:schemeClr val="lt1"/>
              </a:buClr>
              <a:buSzPts val="2000"/>
              <a:buFont typeface="Arial"/>
              <a:buChar char="•"/>
              <a:defRPr sz="2000" b="0" i="0" u="none" strike="noStrike" cap="none">
                <a:solidFill>
                  <a:schemeClr val="lt1"/>
                </a:solidFill>
                <a:latin typeface="Lustria"/>
                <a:ea typeface="Lustria"/>
                <a:cs typeface="Lustria"/>
                <a:sym typeface="Lustria"/>
              </a:defRPr>
            </a:lvl1pPr>
            <a:lvl2pPr marL="914400" marR="0" lvl="1" indent="-342900" algn="l" rtl="0">
              <a:lnSpc>
                <a:spcPct val="110000"/>
              </a:lnSpc>
              <a:spcBef>
                <a:spcPts val="500"/>
              </a:spcBef>
              <a:spcAft>
                <a:spcPts val="0"/>
              </a:spcAft>
              <a:buClr>
                <a:schemeClr val="lt1"/>
              </a:buClr>
              <a:buSzPts val="1800"/>
              <a:buFont typeface="Arial"/>
              <a:buChar char="•"/>
              <a:defRPr sz="1800" b="0" i="0" u="none" strike="noStrike" cap="none">
                <a:solidFill>
                  <a:schemeClr val="lt1"/>
                </a:solidFill>
                <a:latin typeface="Lustria"/>
                <a:ea typeface="Lustria"/>
                <a:cs typeface="Lustria"/>
                <a:sym typeface="Lustria"/>
              </a:defRPr>
            </a:lvl2pPr>
            <a:lvl3pPr marL="1371600" marR="0" lvl="2" indent="-330200" algn="l" rtl="0">
              <a:lnSpc>
                <a:spcPct val="110000"/>
              </a:lnSpc>
              <a:spcBef>
                <a:spcPts val="500"/>
              </a:spcBef>
              <a:spcAft>
                <a:spcPts val="0"/>
              </a:spcAft>
              <a:buClr>
                <a:schemeClr val="lt1"/>
              </a:buClr>
              <a:buSzPts val="1600"/>
              <a:buFont typeface="Arial"/>
              <a:buChar char="•"/>
              <a:defRPr sz="1600" b="0" i="0" u="none" strike="noStrike" cap="none">
                <a:solidFill>
                  <a:schemeClr val="lt1"/>
                </a:solidFill>
                <a:latin typeface="Lustria"/>
                <a:ea typeface="Lustria"/>
                <a:cs typeface="Lustria"/>
                <a:sym typeface="Lustria"/>
              </a:defRPr>
            </a:lvl3pPr>
            <a:lvl4pPr marL="1828800" marR="0" lvl="3" indent="-317500" algn="l" rtl="0">
              <a:lnSpc>
                <a:spcPct val="110000"/>
              </a:lnSpc>
              <a:spcBef>
                <a:spcPts val="500"/>
              </a:spcBef>
              <a:spcAft>
                <a:spcPts val="0"/>
              </a:spcAft>
              <a:buClr>
                <a:schemeClr val="lt1"/>
              </a:buClr>
              <a:buSzPts val="1400"/>
              <a:buFont typeface="Arial"/>
              <a:buChar char="•"/>
              <a:defRPr sz="1400" b="0" i="0" u="none" strike="noStrike" cap="none">
                <a:solidFill>
                  <a:schemeClr val="lt1"/>
                </a:solidFill>
                <a:latin typeface="Lustria"/>
                <a:ea typeface="Lustria"/>
                <a:cs typeface="Lustria"/>
                <a:sym typeface="Lustria"/>
              </a:defRPr>
            </a:lvl4pPr>
            <a:lvl5pPr marL="2286000" marR="0" lvl="4" indent="-317500" algn="l" rtl="0">
              <a:lnSpc>
                <a:spcPct val="110000"/>
              </a:lnSpc>
              <a:spcBef>
                <a:spcPts val="500"/>
              </a:spcBef>
              <a:spcAft>
                <a:spcPts val="0"/>
              </a:spcAft>
              <a:buClr>
                <a:schemeClr val="lt1"/>
              </a:buClr>
              <a:buSzPts val="1400"/>
              <a:buFont typeface="Arial"/>
              <a:buChar char="•"/>
              <a:defRPr sz="1400" b="0" i="0" u="none" strike="noStrike" cap="none">
                <a:solidFill>
                  <a:schemeClr val="lt1"/>
                </a:solidFill>
                <a:latin typeface="Lustria"/>
                <a:ea typeface="Lustria"/>
                <a:cs typeface="Lustria"/>
                <a:sym typeface="Lustria"/>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ustria"/>
                <a:ea typeface="Lustria"/>
                <a:cs typeface="Lustria"/>
                <a:sym typeface="Lustria"/>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ustria"/>
                <a:ea typeface="Lustria"/>
                <a:cs typeface="Lustria"/>
                <a:sym typeface="Lustria"/>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ustria"/>
                <a:ea typeface="Lustria"/>
                <a:cs typeface="Lustria"/>
                <a:sym typeface="Lustria"/>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ustria"/>
                <a:ea typeface="Lustria"/>
                <a:cs typeface="Lustria"/>
                <a:sym typeface="Lustria"/>
              </a:defRPr>
            </a:lvl9pPr>
          </a:lstStyle>
          <a:p>
            <a:endParaRPr/>
          </a:p>
        </p:txBody>
      </p:sp>
      <p:sp>
        <p:nvSpPr>
          <p:cNvPr id="83" name="Google Shape;83;g3d3c986cf74_3_0"/>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R="0" lvl="2"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R="0" lvl="3"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R="0" lvl="4"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R="0" lvl="5"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R="0" lvl="6"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R="0" lvl="7"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R="0" lvl="8"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84" name="Google Shape;84;g3d3c986cf74_3_0"/>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R="0" lvl="2"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R="0" lvl="3"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R="0" lvl="4"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R="0" lvl="5"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R="0" lvl="6"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R="0" lvl="7"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R="0" lvl="8"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85" name="Google Shape;85;g3d3c986cf74_3_0"/>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b="0" i="0" u="none" strike="noStrike" cap="none">
                <a:solidFill>
                  <a:schemeClr val="lt1"/>
                </a:solidFill>
                <a:latin typeface="Lustria"/>
                <a:ea typeface="Lustria"/>
                <a:cs typeface="Lustria"/>
                <a:sym typeface="Lustria"/>
              </a:defRPr>
            </a:lvl1pPr>
            <a:lvl2pPr marL="0" marR="0" lvl="1" indent="0" algn="r" rtl="0">
              <a:spcBef>
                <a:spcPts val="0"/>
              </a:spcBef>
              <a:buNone/>
              <a:defRPr sz="1800" b="0" i="0" u="none" strike="noStrike" cap="none">
                <a:solidFill>
                  <a:schemeClr val="lt1"/>
                </a:solidFill>
                <a:latin typeface="Lustria"/>
                <a:ea typeface="Lustria"/>
                <a:cs typeface="Lustria"/>
                <a:sym typeface="Lustria"/>
              </a:defRPr>
            </a:lvl2pPr>
            <a:lvl3pPr marL="0" marR="0" lvl="2" indent="0" algn="r" rtl="0">
              <a:spcBef>
                <a:spcPts val="0"/>
              </a:spcBef>
              <a:buNone/>
              <a:defRPr sz="1800" b="0" i="0" u="none" strike="noStrike" cap="none">
                <a:solidFill>
                  <a:schemeClr val="lt1"/>
                </a:solidFill>
                <a:latin typeface="Lustria"/>
                <a:ea typeface="Lustria"/>
                <a:cs typeface="Lustria"/>
                <a:sym typeface="Lustria"/>
              </a:defRPr>
            </a:lvl3pPr>
            <a:lvl4pPr marL="0" marR="0" lvl="3" indent="0" algn="r" rtl="0">
              <a:spcBef>
                <a:spcPts val="0"/>
              </a:spcBef>
              <a:buNone/>
              <a:defRPr sz="1800" b="0" i="0" u="none" strike="noStrike" cap="none">
                <a:solidFill>
                  <a:schemeClr val="lt1"/>
                </a:solidFill>
                <a:latin typeface="Lustria"/>
                <a:ea typeface="Lustria"/>
                <a:cs typeface="Lustria"/>
                <a:sym typeface="Lustria"/>
              </a:defRPr>
            </a:lvl4pPr>
            <a:lvl5pPr marL="0" marR="0" lvl="4" indent="0" algn="r" rtl="0">
              <a:spcBef>
                <a:spcPts val="0"/>
              </a:spcBef>
              <a:buNone/>
              <a:defRPr sz="1800" b="0" i="0" u="none" strike="noStrike" cap="none">
                <a:solidFill>
                  <a:schemeClr val="lt1"/>
                </a:solidFill>
                <a:latin typeface="Lustria"/>
                <a:ea typeface="Lustria"/>
                <a:cs typeface="Lustria"/>
                <a:sym typeface="Lustria"/>
              </a:defRPr>
            </a:lvl5pPr>
            <a:lvl6pPr marL="0" marR="0" lvl="5" indent="0" algn="r" rtl="0">
              <a:spcBef>
                <a:spcPts val="0"/>
              </a:spcBef>
              <a:buNone/>
              <a:defRPr sz="1800" b="0" i="0" u="none" strike="noStrike" cap="none">
                <a:solidFill>
                  <a:schemeClr val="lt1"/>
                </a:solidFill>
                <a:latin typeface="Lustria"/>
                <a:ea typeface="Lustria"/>
                <a:cs typeface="Lustria"/>
                <a:sym typeface="Lustria"/>
              </a:defRPr>
            </a:lvl6pPr>
            <a:lvl7pPr marL="0" marR="0" lvl="6" indent="0" algn="r" rtl="0">
              <a:spcBef>
                <a:spcPts val="0"/>
              </a:spcBef>
              <a:buNone/>
              <a:defRPr sz="1800" b="0" i="0" u="none" strike="noStrike" cap="none">
                <a:solidFill>
                  <a:schemeClr val="lt1"/>
                </a:solidFill>
                <a:latin typeface="Lustria"/>
                <a:ea typeface="Lustria"/>
                <a:cs typeface="Lustria"/>
                <a:sym typeface="Lustria"/>
              </a:defRPr>
            </a:lvl7pPr>
            <a:lvl8pPr marL="0" marR="0" lvl="7" indent="0" algn="r" rtl="0">
              <a:spcBef>
                <a:spcPts val="0"/>
              </a:spcBef>
              <a:buNone/>
              <a:defRPr sz="1800" b="0" i="0" u="none" strike="noStrike" cap="none">
                <a:solidFill>
                  <a:schemeClr val="lt1"/>
                </a:solidFill>
                <a:latin typeface="Lustria"/>
                <a:ea typeface="Lustria"/>
                <a:cs typeface="Lustria"/>
                <a:sym typeface="Lustria"/>
              </a:defRPr>
            </a:lvl8pPr>
            <a:lvl9pPr marL="0" marR="0" lvl="8" indent="0" algn="r" rtl="0">
              <a:spcBef>
                <a:spcPts val="0"/>
              </a:spcBef>
              <a:buNone/>
              <a:defRPr sz="1800" b="0" i="0" u="none" strike="noStrike" cap="none">
                <a:solidFill>
                  <a:schemeClr val="lt1"/>
                </a:solidFill>
                <a:latin typeface="Lustria"/>
                <a:ea typeface="Lustria"/>
                <a:cs typeface="Lustria"/>
                <a:sym typeface="Lustria"/>
              </a:defRPr>
            </a:lvl9pPr>
          </a:lstStyle>
          <a:p>
            <a:pPr marL="0" lvl="0" indent="0" algn="r" rtl="0">
              <a:spcBef>
                <a:spcPts val="0"/>
              </a:spcBef>
              <a:spcAft>
                <a:spcPts val="0"/>
              </a:spcAft>
              <a:buNone/>
            </a:pPr>
            <a:fld id="{00000000-1234-1234-1234-123412341234}" type="slidenum">
              <a:rPr lang="en-US"/>
              <a:t>‹#›</a:t>
            </a:fld>
            <a:endParaRPr/>
          </a:p>
        </p:txBody>
      </p:sp>
      <p:cxnSp>
        <p:nvCxnSpPr>
          <p:cNvPr id="86" name="Google Shape;86;g3d3c986cf74_3_0"/>
          <p:cNvCxnSpPr/>
          <p:nvPr/>
        </p:nvCxnSpPr>
        <p:spPr>
          <a:xfrm>
            <a:off x="800100" y="723900"/>
            <a:ext cx="10591800" cy="0"/>
          </a:xfrm>
          <a:prstGeom prst="straightConnector1">
            <a:avLst/>
          </a:prstGeom>
          <a:noFill/>
          <a:ln w="44450" cap="flat" cmpd="sng">
            <a:solidFill>
              <a:schemeClr val="lt1"/>
            </a:solidFill>
            <a:prstDash val="solid"/>
            <a:miter lim="800000"/>
            <a:headEnd type="none" w="sm" len="sm"/>
            <a:tailEnd type="none" w="sm" len="sm"/>
          </a:ln>
        </p:spPr>
      </p:cxnSp>
      <p:cxnSp>
        <p:nvCxnSpPr>
          <p:cNvPr id="87" name="Google Shape;87;g3d3c986cf74_3_0"/>
          <p:cNvCxnSpPr/>
          <p:nvPr/>
        </p:nvCxnSpPr>
        <p:spPr>
          <a:xfrm>
            <a:off x="800100" y="6142781"/>
            <a:ext cx="10591800" cy="0"/>
          </a:xfrm>
          <a:prstGeom prst="straightConnector1">
            <a:avLst/>
          </a:prstGeom>
          <a:noFill/>
          <a:ln w="12700" cap="flat" cmpd="sng">
            <a:solidFill>
              <a:schemeClr val="l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g3d3c986cf74_3_24"/>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dk1"/>
              </a:buClr>
              <a:buSzPts val="4000"/>
              <a:buFont typeface="Open Sans"/>
              <a:buNone/>
              <a:defRPr sz="4000" b="0" i="0" u="none" strike="noStrike" cap="non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6" name="Google Shape;96;g3d3c986cf74_3_24"/>
          <p:cNvSpPr txBox="1">
            <a:spLocks noGrp="1"/>
          </p:cNvSpPr>
          <p:nvPr>
            <p:ph type="body" idx="1"/>
          </p:nvPr>
        </p:nvSpPr>
        <p:spPr>
          <a:xfrm>
            <a:off x="700635" y="2221992"/>
            <a:ext cx="10691265" cy="3739896"/>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10000"/>
              </a:lnSpc>
              <a:spcBef>
                <a:spcPts val="1000"/>
              </a:spcBef>
              <a:spcAft>
                <a:spcPts val="0"/>
              </a:spcAft>
              <a:buClr>
                <a:schemeClr val="dk1"/>
              </a:buClr>
              <a:buSzPts val="2000"/>
              <a:buFont typeface="Arial"/>
              <a:buChar char="•"/>
              <a:defRPr sz="2000" b="0" i="0" u="none" strike="noStrike" cap="none">
                <a:solidFill>
                  <a:schemeClr val="dk1"/>
                </a:solidFill>
                <a:latin typeface="Lustria"/>
                <a:ea typeface="Lustria"/>
                <a:cs typeface="Lustria"/>
                <a:sym typeface="Lustria"/>
              </a:defRPr>
            </a:lvl1pPr>
            <a:lvl2pPr marL="914400" marR="0" lvl="1"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Lustria"/>
                <a:ea typeface="Lustria"/>
                <a:cs typeface="Lustria"/>
                <a:sym typeface="Lustria"/>
              </a:defRPr>
            </a:lvl2pPr>
            <a:lvl3pPr marL="1371600" marR="0" lvl="2" indent="-330200" algn="l" rtl="0">
              <a:lnSpc>
                <a:spcPct val="110000"/>
              </a:lnSpc>
              <a:spcBef>
                <a:spcPts val="500"/>
              </a:spcBef>
              <a:spcAft>
                <a:spcPts val="0"/>
              </a:spcAft>
              <a:buClr>
                <a:schemeClr val="dk1"/>
              </a:buClr>
              <a:buSzPts val="1600"/>
              <a:buFont typeface="Arial"/>
              <a:buChar char="•"/>
              <a:defRPr sz="1600" b="0" i="0" u="none" strike="noStrike" cap="none">
                <a:solidFill>
                  <a:schemeClr val="dk1"/>
                </a:solidFill>
                <a:latin typeface="Lustria"/>
                <a:ea typeface="Lustria"/>
                <a:cs typeface="Lustria"/>
                <a:sym typeface="Lustria"/>
              </a:defRPr>
            </a:lvl3pPr>
            <a:lvl4pPr marL="1828800" marR="0" lvl="3" indent="-317500" algn="l" rtl="0">
              <a:lnSpc>
                <a:spcPct val="110000"/>
              </a:lnSpc>
              <a:spcBef>
                <a:spcPts val="500"/>
              </a:spcBef>
              <a:spcAft>
                <a:spcPts val="0"/>
              </a:spcAft>
              <a:buClr>
                <a:schemeClr val="dk1"/>
              </a:buClr>
              <a:buSzPts val="1400"/>
              <a:buFont typeface="Arial"/>
              <a:buChar char="•"/>
              <a:defRPr sz="1400" b="0" i="0" u="none" strike="noStrike" cap="none">
                <a:solidFill>
                  <a:schemeClr val="dk1"/>
                </a:solidFill>
                <a:latin typeface="Lustria"/>
                <a:ea typeface="Lustria"/>
                <a:cs typeface="Lustria"/>
                <a:sym typeface="Lustria"/>
              </a:defRPr>
            </a:lvl4pPr>
            <a:lvl5pPr marL="2286000" marR="0" lvl="4" indent="-317500" algn="l" rtl="0">
              <a:lnSpc>
                <a:spcPct val="110000"/>
              </a:lnSpc>
              <a:spcBef>
                <a:spcPts val="500"/>
              </a:spcBef>
              <a:spcAft>
                <a:spcPts val="0"/>
              </a:spcAft>
              <a:buClr>
                <a:schemeClr val="dk1"/>
              </a:buClr>
              <a:buSzPts val="1400"/>
              <a:buFont typeface="Arial"/>
              <a:buChar char="•"/>
              <a:defRPr sz="1400" b="0" i="0" u="none" strike="noStrike" cap="none">
                <a:solidFill>
                  <a:schemeClr val="dk1"/>
                </a:solidFill>
                <a:latin typeface="Lustria"/>
                <a:ea typeface="Lustria"/>
                <a:cs typeface="Lustria"/>
                <a:sym typeface="Lustri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ustria"/>
                <a:ea typeface="Lustria"/>
                <a:cs typeface="Lustria"/>
                <a:sym typeface="Lustr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ustria"/>
                <a:ea typeface="Lustria"/>
                <a:cs typeface="Lustria"/>
                <a:sym typeface="Lustr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ustria"/>
                <a:ea typeface="Lustria"/>
                <a:cs typeface="Lustria"/>
                <a:sym typeface="Lustr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ustria"/>
                <a:ea typeface="Lustria"/>
                <a:cs typeface="Lustria"/>
                <a:sym typeface="Lustria"/>
              </a:defRPr>
            </a:lvl9pPr>
          </a:lstStyle>
          <a:p>
            <a:endParaRPr/>
          </a:p>
        </p:txBody>
      </p:sp>
      <p:sp>
        <p:nvSpPr>
          <p:cNvPr id="97" name="Google Shape;97;g3d3c986cf74_3_24"/>
          <p:cNvSpPr txBox="1">
            <a:spLocks noGrp="1"/>
          </p:cNvSpPr>
          <p:nvPr>
            <p:ph type="dt" idx="10"/>
          </p:nvPr>
        </p:nvSpPr>
        <p:spPr>
          <a:xfrm>
            <a:off x="8369448" y="6356350"/>
            <a:ext cx="2549564"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dk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2pPr>
            <a:lvl3pPr marR="0" lvl="2"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3pPr>
            <a:lvl4pPr marR="0" lvl="3"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4pPr>
            <a:lvl5pPr marR="0" lvl="4"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5pPr>
            <a:lvl6pPr marR="0" lvl="5"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6pPr>
            <a:lvl7pPr marR="0" lvl="6"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7pPr>
            <a:lvl8pPr marR="0" lvl="7"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8pPr>
            <a:lvl9pPr marR="0" lvl="8"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9pPr>
          </a:lstStyle>
          <a:p>
            <a:endParaRPr/>
          </a:p>
        </p:txBody>
      </p:sp>
      <p:sp>
        <p:nvSpPr>
          <p:cNvPr id="98" name="Google Shape;98;g3d3c986cf74_3_24"/>
          <p:cNvSpPr txBox="1">
            <a:spLocks noGrp="1"/>
          </p:cNvSpPr>
          <p:nvPr>
            <p:ph type="ftr" idx="11"/>
          </p:nvPr>
        </p:nvSpPr>
        <p:spPr>
          <a:xfrm>
            <a:off x="704088" y="6356350"/>
            <a:ext cx="453972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dk1"/>
                </a:solidFill>
                <a:latin typeface="Open Sans"/>
                <a:ea typeface="Open Sans"/>
                <a:cs typeface="Open Sans"/>
                <a:sym typeface="Open Sans"/>
              </a:defRPr>
            </a:lvl1pPr>
            <a:lvl2pPr marR="0" lvl="1"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2pPr>
            <a:lvl3pPr marR="0" lvl="2"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3pPr>
            <a:lvl4pPr marR="0" lvl="3"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4pPr>
            <a:lvl5pPr marR="0" lvl="4"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5pPr>
            <a:lvl6pPr marR="0" lvl="5"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6pPr>
            <a:lvl7pPr marR="0" lvl="6"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7pPr>
            <a:lvl8pPr marR="0" lvl="7"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8pPr>
            <a:lvl9pPr marR="0" lvl="8" algn="l" rtl="0">
              <a:spcBef>
                <a:spcPts val="0"/>
              </a:spcBef>
              <a:spcAft>
                <a:spcPts val="0"/>
              </a:spcAft>
              <a:buSzPts val="1400"/>
              <a:buNone/>
              <a:defRPr sz="1800" b="0" i="0" u="none" strike="noStrike" cap="none">
                <a:solidFill>
                  <a:schemeClr val="dk1"/>
                </a:solidFill>
                <a:latin typeface="Lustria"/>
                <a:ea typeface="Lustria"/>
                <a:cs typeface="Lustria"/>
                <a:sym typeface="Lustria"/>
              </a:defRPr>
            </a:lvl9pPr>
          </a:lstStyle>
          <a:p>
            <a:endParaRPr/>
          </a:p>
        </p:txBody>
      </p:sp>
      <p:sp>
        <p:nvSpPr>
          <p:cNvPr id="99" name="Google Shape;99;g3d3c986cf74_3_24"/>
          <p:cNvSpPr txBox="1">
            <a:spLocks noGrp="1"/>
          </p:cNvSpPr>
          <p:nvPr>
            <p:ph type="sldNum" idx="12"/>
          </p:nvPr>
        </p:nvSpPr>
        <p:spPr>
          <a:xfrm>
            <a:off x="10919012" y="6356350"/>
            <a:ext cx="672354"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b="0" i="0" u="none" strike="noStrike" cap="none">
                <a:solidFill>
                  <a:schemeClr val="dk1"/>
                </a:solidFill>
                <a:latin typeface="Lustria"/>
                <a:ea typeface="Lustria"/>
                <a:cs typeface="Lustria"/>
                <a:sym typeface="Lustria"/>
              </a:defRPr>
            </a:lvl1pPr>
            <a:lvl2pPr marL="0" marR="0" lvl="1" indent="0" algn="r" rtl="0">
              <a:spcBef>
                <a:spcPts val="0"/>
              </a:spcBef>
              <a:buNone/>
              <a:defRPr sz="1800" b="0" i="0" u="none" strike="noStrike" cap="none">
                <a:solidFill>
                  <a:schemeClr val="dk1"/>
                </a:solidFill>
                <a:latin typeface="Lustria"/>
                <a:ea typeface="Lustria"/>
                <a:cs typeface="Lustria"/>
                <a:sym typeface="Lustria"/>
              </a:defRPr>
            </a:lvl2pPr>
            <a:lvl3pPr marL="0" marR="0" lvl="2" indent="0" algn="r" rtl="0">
              <a:spcBef>
                <a:spcPts val="0"/>
              </a:spcBef>
              <a:buNone/>
              <a:defRPr sz="1800" b="0" i="0" u="none" strike="noStrike" cap="none">
                <a:solidFill>
                  <a:schemeClr val="dk1"/>
                </a:solidFill>
                <a:latin typeface="Lustria"/>
                <a:ea typeface="Lustria"/>
                <a:cs typeface="Lustria"/>
                <a:sym typeface="Lustria"/>
              </a:defRPr>
            </a:lvl3pPr>
            <a:lvl4pPr marL="0" marR="0" lvl="3" indent="0" algn="r" rtl="0">
              <a:spcBef>
                <a:spcPts val="0"/>
              </a:spcBef>
              <a:buNone/>
              <a:defRPr sz="1800" b="0" i="0" u="none" strike="noStrike" cap="none">
                <a:solidFill>
                  <a:schemeClr val="dk1"/>
                </a:solidFill>
                <a:latin typeface="Lustria"/>
                <a:ea typeface="Lustria"/>
                <a:cs typeface="Lustria"/>
                <a:sym typeface="Lustria"/>
              </a:defRPr>
            </a:lvl4pPr>
            <a:lvl5pPr marL="0" marR="0" lvl="4" indent="0" algn="r" rtl="0">
              <a:spcBef>
                <a:spcPts val="0"/>
              </a:spcBef>
              <a:buNone/>
              <a:defRPr sz="1800" b="0" i="0" u="none" strike="noStrike" cap="none">
                <a:solidFill>
                  <a:schemeClr val="dk1"/>
                </a:solidFill>
                <a:latin typeface="Lustria"/>
                <a:ea typeface="Lustria"/>
                <a:cs typeface="Lustria"/>
                <a:sym typeface="Lustria"/>
              </a:defRPr>
            </a:lvl5pPr>
            <a:lvl6pPr marL="0" marR="0" lvl="5" indent="0" algn="r" rtl="0">
              <a:spcBef>
                <a:spcPts val="0"/>
              </a:spcBef>
              <a:buNone/>
              <a:defRPr sz="1800" b="0" i="0" u="none" strike="noStrike" cap="none">
                <a:solidFill>
                  <a:schemeClr val="dk1"/>
                </a:solidFill>
                <a:latin typeface="Lustria"/>
                <a:ea typeface="Lustria"/>
                <a:cs typeface="Lustria"/>
                <a:sym typeface="Lustria"/>
              </a:defRPr>
            </a:lvl6pPr>
            <a:lvl7pPr marL="0" marR="0" lvl="6" indent="0" algn="r" rtl="0">
              <a:spcBef>
                <a:spcPts val="0"/>
              </a:spcBef>
              <a:buNone/>
              <a:defRPr sz="1800" b="0" i="0" u="none" strike="noStrike" cap="none">
                <a:solidFill>
                  <a:schemeClr val="dk1"/>
                </a:solidFill>
                <a:latin typeface="Lustria"/>
                <a:ea typeface="Lustria"/>
                <a:cs typeface="Lustria"/>
                <a:sym typeface="Lustria"/>
              </a:defRPr>
            </a:lvl7pPr>
            <a:lvl8pPr marL="0" marR="0" lvl="7" indent="0" algn="r" rtl="0">
              <a:spcBef>
                <a:spcPts val="0"/>
              </a:spcBef>
              <a:buNone/>
              <a:defRPr sz="1800" b="0" i="0" u="none" strike="noStrike" cap="none">
                <a:solidFill>
                  <a:schemeClr val="dk1"/>
                </a:solidFill>
                <a:latin typeface="Lustria"/>
                <a:ea typeface="Lustria"/>
                <a:cs typeface="Lustria"/>
                <a:sym typeface="Lustria"/>
              </a:defRPr>
            </a:lvl8pPr>
            <a:lvl9pPr marL="0" marR="0" lvl="8" indent="0" algn="r" rtl="0">
              <a:spcBef>
                <a:spcPts val="0"/>
              </a:spcBef>
              <a:buNone/>
              <a:defRPr sz="1800" b="0" i="0" u="none" strike="noStrike" cap="none">
                <a:solidFill>
                  <a:schemeClr val="dk1"/>
                </a:solidFill>
                <a:latin typeface="Lustria"/>
                <a:ea typeface="Lustria"/>
                <a:cs typeface="Lustria"/>
                <a:sym typeface="Lustria"/>
              </a:defRPr>
            </a:lvl9pPr>
          </a:lstStyle>
          <a:p>
            <a:pPr marL="0" lvl="0" indent="0" algn="r" rtl="0">
              <a:spcBef>
                <a:spcPts val="0"/>
              </a:spcBef>
              <a:spcAft>
                <a:spcPts val="0"/>
              </a:spcAft>
              <a:buNone/>
            </a:pPr>
            <a:fld id="{00000000-1234-1234-1234-123412341234}" type="slidenum">
              <a:rPr lang="en-US"/>
              <a:t>‹#›</a:t>
            </a:fld>
            <a:endParaRPr/>
          </a:p>
        </p:txBody>
      </p:sp>
      <p:cxnSp>
        <p:nvCxnSpPr>
          <p:cNvPr id="100" name="Google Shape;100;g3d3c986cf74_3_24"/>
          <p:cNvCxnSpPr/>
          <p:nvPr/>
        </p:nvCxnSpPr>
        <p:spPr>
          <a:xfrm>
            <a:off x="800100" y="723900"/>
            <a:ext cx="10591800" cy="0"/>
          </a:xfrm>
          <a:prstGeom prst="straightConnector1">
            <a:avLst/>
          </a:prstGeom>
          <a:noFill/>
          <a:ln w="44450" cap="flat" cmpd="sng">
            <a:solidFill>
              <a:schemeClr val="dk1"/>
            </a:solidFill>
            <a:prstDash val="solid"/>
            <a:miter lim="800000"/>
            <a:headEnd type="none" w="sm" len="sm"/>
            <a:tailEnd type="none" w="sm" len="sm"/>
          </a:ln>
        </p:spPr>
      </p:cxnSp>
      <p:cxnSp>
        <p:nvCxnSpPr>
          <p:cNvPr id="101" name="Google Shape;101;g3d3c986cf74_3_24"/>
          <p:cNvCxnSpPr/>
          <p:nvPr/>
        </p:nvCxnSpPr>
        <p:spPr>
          <a:xfrm>
            <a:off x="800100" y="6142781"/>
            <a:ext cx="10591800" cy="0"/>
          </a:xfrm>
          <a:prstGeom prst="straightConnector1">
            <a:avLst/>
          </a:prstGeom>
          <a:noFill/>
          <a:ln w="12700" cap="flat" cmpd="sng">
            <a:solidFill>
              <a:schemeClr val="dk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4"/>
        <p:cNvGrpSpPr/>
        <p:nvPr/>
      </p:nvGrpSpPr>
      <p:grpSpPr>
        <a:xfrm>
          <a:off x="0" y="0"/>
          <a:ext cx="0" cy="0"/>
          <a:chOff x="0" y="0"/>
          <a:chExt cx="0" cy="0"/>
        </a:xfrm>
      </p:grpSpPr>
      <p:sp>
        <p:nvSpPr>
          <p:cNvPr id="175" name="Google Shape;175;g3d3c986cf74_3_14"/>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pic>
        <p:nvPicPr>
          <p:cNvPr id="176" name="Google Shape;176;g3d3c986cf74_3_14" descr="Close up of a solar panel"/>
          <p:cNvPicPr preferRelativeResize="0"/>
          <p:nvPr/>
        </p:nvPicPr>
        <p:blipFill rotWithShape="1">
          <a:blip r:embed="rId3">
            <a:alphaModFix/>
          </a:blip>
          <a:srcRect b="15730"/>
          <a:stretch/>
        </p:blipFill>
        <p:spPr>
          <a:xfrm>
            <a:off x="1" y="10"/>
            <a:ext cx="12192000" cy="6857989"/>
          </a:xfrm>
          <a:prstGeom prst="rect">
            <a:avLst/>
          </a:prstGeom>
          <a:noFill/>
          <a:ln>
            <a:noFill/>
          </a:ln>
        </p:spPr>
      </p:pic>
      <p:sp>
        <p:nvSpPr>
          <p:cNvPr id="177" name="Google Shape;177;g3d3c986cf74_3_14"/>
          <p:cNvSpPr/>
          <p:nvPr/>
        </p:nvSpPr>
        <p:spPr>
          <a:xfrm rot="10800000">
            <a:off x="-2307" y="990598"/>
            <a:ext cx="12188952" cy="4745182"/>
          </a:xfrm>
          <a:prstGeom prst="rect">
            <a:avLst/>
          </a:prstGeom>
          <a:gradFill>
            <a:gsLst>
              <a:gs pos="0">
                <a:srgbClr val="000000">
                  <a:alpha val="0"/>
                </a:srgbClr>
              </a:gs>
              <a:gs pos="35000">
                <a:srgbClr val="000000">
                  <a:alpha val="41176"/>
                </a:srgbClr>
              </a:gs>
              <a:gs pos="47744">
                <a:srgbClr val="000000">
                  <a:alpha val="50980"/>
                </a:srgbClr>
              </a:gs>
              <a:gs pos="70000">
                <a:srgbClr val="000000">
                  <a:alpha val="36862"/>
                </a:srgbClr>
              </a:gs>
              <a:gs pos="100000">
                <a:srgbClr val="00000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sp>
        <p:nvSpPr>
          <p:cNvPr id="178" name="Google Shape;178;g3d3c986cf74_3_14"/>
          <p:cNvSpPr txBox="1">
            <a:spLocks noGrp="1"/>
          </p:cNvSpPr>
          <p:nvPr>
            <p:ph type="ctrTitle"/>
          </p:nvPr>
        </p:nvSpPr>
        <p:spPr>
          <a:xfrm>
            <a:off x="0" y="990600"/>
            <a:ext cx="8115300" cy="484920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Clr>
                <a:srgbClr val="FFFFFF"/>
              </a:buClr>
              <a:buSzPts val="5400"/>
              <a:buFont typeface="Open Sans"/>
              <a:buNone/>
            </a:pPr>
            <a:r>
              <a:rPr lang="en-US" sz="3600">
                <a:solidFill>
                  <a:srgbClr val="FFFFFF"/>
                </a:solidFill>
                <a:latin typeface="Arial"/>
                <a:ea typeface="Arial"/>
                <a:cs typeface="Arial"/>
                <a:sym typeface="Arial"/>
              </a:rPr>
              <a:t>Investigating Approximations for the Linear and Non-Linear First Order Differential Equation Describing the Operating Temperature of a Photovoltaic Cell.</a:t>
            </a:r>
            <a:endParaRPr/>
          </a:p>
        </p:txBody>
      </p:sp>
      <p:sp>
        <p:nvSpPr>
          <p:cNvPr id="179" name="Google Shape;179;g3d3c986cf74_3_14"/>
          <p:cNvSpPr txBox="1">
            <a:spLocks noGrp="1"/>
          </p:cNvSpPr>
          <p:nvPr>
            <p:ph type="subTitle" idx="1"/>
          </p:nvPr>
        </p:nvSpPr>
        <p:spPr>
          <a:xfrm>
            <a:off x="8712864" y="1468819"/>
            <a:ext cx="3363521" cy="4076699"/>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Clr>
                <a:srgbClr val="FFFFFF"/>
              </a:buClr>
              <a:buSzPts val="2000"/>
              <a:buNone/>
            </a:pPr>
            <a:r>
              <a:rPr lang="en-US" b="1" dirty="0">
                <a:solidFill>
                  <a:srgbClr val="FFFFFF"/>
                </a:solidFill>
              </a:rPr>
              <a:t>Thomas Campagna</a:t>
            </a:r>
            <a:r>
              <a:rPr lang="en-US" dirty="0">
                <a:solidFill>
                  <a:srgbClr val="FFFFFF"/>
                </a:solidFill>
              </a:rPr>
              <a:t>, Wyatt Crosby, Joey Spaeth </a:t>
            </a:r>
          </a:p>
          <a:p>
            <a:pPr marL="0" lvl="0" indent="0" algn="l" rtl="0">
              <a:lnSpc>
                <a:spcPct val="110000"/>
              </a:lnSpc>
              <a:spcBef>
                <a:spcPts val="0"/>
              </a:spcBef>
              <a:spcAft>
                <a:spcPts val="0"/>
              </a:spcAft>
              <a:buClr>
                <a:srgbClr val="FFFFFF"/>
              </a:buClr>
              <a:buSzPts val="2000"/>
              <a:buNone/>
            </a:pPr>
            <a:r>
              <a:rPr lang="en-US" dirty="0">
                <a:solidFill>
                  <a:srgbClr val="FFFFFF"/>
                </a:solidFill>
              </a:rPr>
              <a:t>Ben </a:t>
            </a:r>
            <a:r>
              <a:rPr lang="en-US" dirty="0" err="1">
                <a:solidFill>
                  <a:srgbClr val="FFFFFF"/>
                </a:solidFill>
              </a:rPr>
              <a:t>Ntatin</a:t>
            </a:r>
            <a:endParaRPr lang="en-US" dirty="0">
              <a:solidFill>
                <a:srgbClr val="FFFFFF"/>
              </a:solidFill>
            </a:endParaRPr>
          </a:p>
          <a:p>
            <a:pPr marL="0" lvl="0" indent="0" algn="l" rtl="0">
              <a:lnSpc>
                <a:spcPct val="110000"/>
              </a:lnSpc>
              <a:spcBef>
                <a:spcPts val="0"/>
              </a:spcBef>
              <a:spcAft>
                <a:spcPts val="0"/>
              </a:spcAft>
              <a:buClr>
                <a:srgbClr val="FFFFFF"/>
              </a:buClr>
              <a:buSzPts val="2000"/>
              <a:buNone/>
            </a:pPr>
            <a:r>
              <a:rPr lang="en-US" dirty="0">
                <a:solidFill>
                  <a:srgbClr val="FFFFFF"/>
                </a:solidFill>
              </a:rPr>
              <a:t>Austin Peay State University</a:t>
            </a:r>
            <a:endParaRPr dirty="0"/>
          </a:p>
        </p:txBody>
      </p:sp>
      <p:cxnSp>
        <p:nvCxnSpPr>
          <p:cNvPr id="180" name="Google Shape;180;g3d3c986cf74_3_14"/>
          <p:cNvCxnSpPr/>
          <p:nvPr/>
        </p:nvCxnSpPr>
        <p:spPr>
          <a:xfrm rot="10800000">
            <a:off x="8115300" y="1780927"/>
            <a:ext cx="0" cy="3390901"/>
          </a:xfrm>
          <a:prstGeom prst="straightConnector1">
            <a:avLst/>
          </a:prstGeom>
          <a:noFill/>
          <a:ln w="44450" cap="flat" cmpd="sng">
            <a:solidFill>
              <a:srgbClr val="FFFFFF"/>
            </a:solidFill>
            <a:prstDash val="solid"/>
            <a:miter lim="800000"/>
            <a:headEnd type="none" w="sm" len="sm"/>
            <a:tailEnd type="none" w="sm" len="sm"/>
          </a:ln>
          <a:effectLst>
            <a:outerShdw blurRad="50800" dist="38100" dir="2700000" sx="88000" sy="88000" algn="tl" rotWithShape="0">
              <a:srgbClr val="000000">
                <a:alpha val="25882"/>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7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d3c986cf74_3_101"/>
          <p:cNvSpPr txBox="1">
            <a:spLocks noGrp="1"/>
          </p:cNvSpPr>
          <p:nvPr>
            <p:ph type="title"/>
          </p:nvPr>
        </p:nvSpPr>
        <p:spPr>
          <a:xfrm>
            <a:off x="750300" y="769425"/>
            <a:ext cx="10691400" cy="613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Open Sans"/>
              <a:buNone/>
            </a:pPr>
            <a:r>
              <a:rPr lang="en-US"/>
              <a:t>PHYSICAL PARAMETERS</a:t>
            </a:r>
            <a:endParaRPr/>
          </a:p>
        </p:txBody>
      </p:sp>
      <p:pic>
        <p:nvPicPr>
          <p:cNvPr id="186" name="Google Shape;186;g3d3c986cf74_3_101"/>
          <p:cNvPicPr preferRelativeResize="0"/>
          <p:nvPr/>
        </p:nvPicPr>
        <p:blipFill>
          <a:blip r:embed="rId3">
            <a:alphaModFix/>
          </a:blip>
          <a:stretch>
            <a:fillRect/>
          </a:stretch>
        </p:blipFill>
        <p:spPr>
          <a:xfrm>
            <a:off x="2143850" y="1513725"/>
            <a:ext cx="7904324" cy="4335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d3c986cf74_3_116"/>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Open Sans"/>
              <a:buNone/>
            </a:pPr>
            <a:r>
              <a:rPr lang="en-US"/>
              <a:t>EQUATION FOR LINEAR ODE</a:t>
            </a:r>
            <a:endParaRPr/>
          </a:p>
        </p:txBody>
      </p:sp>
      <p:pic>
        <p:nvPicPr>
          <p:cNvPr id="198" name="Google Shape;198;g3d3c986cf74_3_116"/>
          <p:cNvPicPr preferRelativeResize="0"/>
          <p:nvPr/>
        </p:nvPicPr>
        <p:blipFill>
          <a:blip r:embed="rId3">
            <a:alphaModFix/>
          </a:blip>
          <a:stretch>
            <a:fillRect/>
          </a:stretch>
        </p:blipFill>
        <p:spPr>
          <a:xfrm>
            <a:off x="1042863" y="2751350"/>
            <a:ext cx="10106276" cy="1483364"/>
          </a:xfrm>
          <a:prstGeom prst="rect">
            <a:avLst/>
          </a:prstGeom>
          <a:noFill/>
          <a:ln>
            <a:noFill/>
          </a:ln>
        </p:spPr>
      </p:pic>
      <p:sp>
        <p:nvSpPr>
          <p:cNvPr id="2" name="Left Brace 1">
            <a:extLst>
              <a:ext uri="{FF2B5EF4-FFF2-40B4-BE49-F238E27FC236}">
                <a16:creationId xmlns:a16="http://schemas.microsoft.com/office/drawing/2014/main" id="{A05F34FD-819B-9721-38B0-A3DE2D92CCFD}"/>
              </a:ext>
            </a:extLst>
          </p:cNvPr>
          <p:cNvSpPr/>
          <p:nvPr/>
        </p:nvSpPr>
        <p:spPr>
          <a:xfrm rot="16200000">
            <a:off x="1188600" y="4023576"/>
            <a:ext cx="525517" cy="570375"/>
          </a:xfrm>
          <a:prstGeom prst="lef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CAB19264-2176-3111-7482-C0EEBBB1B2DD}"/>
              </a:ext>
            </a:extLst>
          </p:cNvPr>
          <p:cNvSpPr txBox="1"/>
          <p:nvPr/>
        </p:nvSpPr>
        <p:spPr>
          <a:xfrm>
            <a:off x="2474706" y="4723922"/>
            <a:ext cx="910555" cy="523220"/>
          </a:xfrm>
          <a:prstGeom prst="rect">
            <a:avLst/>
          </a:prstGeom>
          <a:noFill/>
        </p:spPr>
        <p:txBody>
          <a:bodyPr wrap="square" rtlCol="0">
            <a:spAutoFit/>
          </a:bodyPr>
          <a:lstStyle/>
          <a:p>
            <a:r>
              <a:rPr lang="en-US" dirty="0"/>
              <a:t>Thermal Inertia</a:t>
            </a:r>
          </a:p>
        </p:txBody>
      </p:sp>
      <p:sp>
        <p:nvSpPr>
          <p:cNvPr id="4" name="Left Brace 3">
            <a:extLst>
              <a:ext uri="{FF2B5EF4-FFF2-40B4-BE49-F238E27FC236}">
                <a16:creationId xmlns:a16="http://schemas.microsoft.com/office/drawing/2014/main" id="{18DDE856-2F48-327C-3396-BC62BBB71248}"/>
              </a:ext>
            </a:extLst>
          </p:cNvPr>
          <p:cNvSpPr/>
          <p:nvPr/>
        </p:nvSpPr>
        <p:spPr>
          <a:xfrm rot="16200000">
            <a:off x="2667226" y="3947841"/>
            <a:ext cx="525517" cy="910554"/>
          </a:xfrm>
          <a:prstGeom prst="lef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25C1CB1F-EEB7-C3BE-F202-D1B1431E7ECA}"/>
              </a:ext>
            </a:extLst>
          </p:cNvPr>
          <p:cNvSpPr txBox="1"/>
          <p:nvPr/>
        </p:nvSpPr>
        <p:spPr>
          <a:xfrm>
            <a:off x="978392" y="4723922"/>
            <a:ext cx="1250731" cy="738664"/>
          </a:xfrm>
          <a:prstGeom prst="rect">
            <a:avLst/>
          </a:prstGeom>
          <a:noFill/>
        </p:spPr>
        <p:txBody>
          <a:bodyPr wrap="square" rtlCol="0">
            <a:spAutoFit/>
          </a:bodyPr>
          <a:lstStyle/>
          <a:p>
            <a:r>
              <a:rPr lang="en-US" dirty="0"/>
              <a:t>Temperature change over time</a:t>
            </a:r>
          </a:p>
        </p:txBody>
      </p:sp>
      <p:sp>
        <p:nvSpPr>
          <p:cNvPr id="6" name="Left Brace 5">
            <a:extLst>
              <a:ext uri="{FF2B5EF4-FFF2-40B4-BE49-F238E27FC236}">
                <a16:creationId xmlns:a16="http://schemas.microsoft.com/office/drawing/2014/main" id="{166E88EA-284B-E465-9E98-8581AB76292A}"/>
              </a:ext>
            </a:extLst>
          </p:cNvPr>
          <p:cNvSpPr/>
          <p:nvPr/>
        </p:nvSpPr>
        <p:spPr>
          <a:xfrm rot="16200000">
            <a:off x="4703140" y="3178662"/>
            <a:ext cx="525517" cy="2260202"/>
          </a:xfrm>
          <a:prstGeom prst="lef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7" name="Left Brace 6">
            <a:extLst>
              <a:ext uri="{FF2B5EF4-FFF2-40B4-BE49-F238E27FC236}">
                <a16:creationId xmlns:a16="http://schemas.microsoft.com/office/drawing/2014/main" id="{D202EA08-56C7-D2E5-BADE-B260734154FB}"/>
              </a:ext>
            </a:extLst>
          </p:cNvPr>
          <p:cNvSpPr/>
          <p:nvPr/>
        </p:nvSpPr>
        <p:spPr>
          <a:xfrm rot="16200000">
            <a:off x="8539418" y="2316813"/>
            <a:ext cx="525517" cy="3983900"/>
          </a:xfrm>
          <a:prstGeom prst="lef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D7F1A69-6C65-B583-F8C9-80960D67E645}"/>
              </a:ext>
            </a:extLst>
          </p:cNvPr>
          <p:cNvSpPr txBox="1"/>
          <p:nvPr/>
        </p:nvSpPr>
        <p:spPr>
          <a:xfrm>
            <a:off x="4183103" y="4764072"/>
            <a:ext cx="1565590" cy="523220"/>
          </a:xfrm>
          <a:prstGeom prst="rect">
            <a:avLst/>
          </a:prstGeom>
          <a:noFill/>
        </p:spPr>
        <p:txBody>
          <a:bodyPr wrap="square" rtlCol="0">
            <a:spAutoFit/>
          </a:bodyPr>
          <a:lstStyle/>
          <a:p>
            <a:r>
              <a:rPr lang="en-US" dirty="0"/>
              <a:t>Net solar power absorbed as heat</a:t>
            </a:r>
          </a:p>
        </p:txBody>
      </p:sp>
      <p:sp>
        <p:nvSpPr>
          <p:cNvPr id="9" name="TextBox 8">
            <a:extLst>
              <a:ext uri="{FF2B5EF4-FFF2-40B4-BE49-F238E27FC236}">
                <a16:creationId xmlns:a16="http://schemas.microsoft.com/office/drawing/2014/main" id="{26B77423-3192-A9BC-F375-7F6A8CC9B3AD}"/>
              </a:ext>
            </a:extLst>
          </p:cNvPr>
          <p:cNvSpPr txBox="1"/>
          <p:nvPr/>
        </p:nvSpPr>
        <p:spPr>
          <a:xfrm>
            <a:off x="8019381" y="4764072"/>
            <a:ext cx="1565590" cy="523220"/>
          </a:xfrm>
          <a:prstGeom prst="rect">
            <a:avLst/>
          </a:prstGeom>
          <a:noFill/>
        </p:spPr>
        <p:txBody>
          <a:bodyPr wrap="square" rtlCol="0">
            <a:spAutoFit/>
          </a:bodyPr>
          <a:lstStyle/>
          <a:p>
            <a:r>
              <a:rPr lang="en-US" dirty="0"/>
              <a:t>Convective heat loss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d3c986cf74_3_126"/>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Open Sans"/>
              <a:buNone/>
            </a:pPr>
            <a:r>
              <a:rPr lang="en-US" dirty="0"/>
              <a:t>EXACT SOLUTION</a:t>
            </a:r>
            <a:endParaRPr dirty="0"/>
          </a:p>
        </p:txBody>
      </p:sp>
      <p:sp>
        <p:nvSpPr>
          <p:cNvPr id="2" name="Rectangle 1">
            <a:extLst>
              <a:ext uri="{FF2B5EF4-FFF2-40B4-BE49-F238E27FC236}">
                <a16:creationId xmlns:a16="http://schemas.microsoft.com/office/drawing/2014/main" id="{AAACC7FA-E2E3-204C-4D7B-0F23191D88D8}"/>
              </a:ext>
            </a:extLst>
          </p:cNvPr>
          <p:cNvSpPr>
            <a:spLocks noChangeArrowheads="1"/>
          </p:cNvSpPr>
          <p:nvPr/>
        </p:nvSpPr>
        <p:spPr bwMode="auto">
          <a:xfrm>
            <a:off x="0" y="294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51" name="Picture 3">
            <a:extLst>
              <a:ext uri="{FF2B5EF4-FFF2-40B4-BE49-F238E27FC236}">
                <a16:creationId xmlns:a16="http://schemas.microsoft.com/office/drawing/2014/main" id="{788AF06D-B6A4-8CE3-67FD-C76671BAE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8302" y="1692270"/>
            <a:ext cx="7755396" cy="425133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9D466C3-94D8-B1DF-4175-8F36D06FA94B}"/>
              </a:ext>
            </a:extLst>
          </p:cNvPr>
          <p:cNvSpPr/>
          <p:nvPr/>
        </p:nvSpPr>
        <p:spPr>
          <a:xfrm>
            <a:off x="6256421" y="1951303"/>
            <a:ext cx="328134" cy="3412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0EB48F-1E5A-2745-FFFE-37DF182BA287}"/>
              </a:ext>
            </a:extLst>
          </p:cNvPr>
          <p:cNvPicPr>
            <a:picLocks noChangeAspect="1"/>
          </p:cNvPicPr>
          <p:nvPr/>
        </p:nvPicPr>
        <p:blipFill>
          <a:blip r:embed="rId4"/>
          <a:stretch>
            <a:fillRect/>
          </a:stretch>
        </p:blipFill>
        <p:spPr>
          <a:xfrm>
            <a:off x="6252046" y="1985899"/>
            <a:ext cx="338643" cy="1809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d3c986cf74_3_121"/>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Open Sans"/>
              <a:buNone/>
            </a:pPr>
            <a:r>
              <a:rPr lang="en-US"/>
              <a:t>EQUATION FOR NONLINEAR ODE</a:t>
            </a:r>
            <a:endParaRPr/>
          </a:p>
        </p:txBody>
      </p:sp>
      <p:pic>
        <p:nvPicPr>
          <p:cNvPr id="204" name="Google Shape;204;g3d3c986cf74_3_121"/>
          <p:cNvPicPr preferRelativeResize="0"/>
          <p:nvPr/>
        </p:nvPicPr>
        <p:blipFill>
          <a:blip r:embed="rId3">
            <a:alphaModFix/>
          </a:blip>
          <a:stretch>
            <a:fillRect/>
          </a:stretch>
        </p:blipFill>
        <p:spPr>
          <a:xfrm>
            <a:off x="750363" y="2928725"/>
            <a:ext cx="10691275" cy="1000541"/>
          </a:xfrm>
          <a:prstGeom prst="rect">
            <a:avLst/>
          </a:prstGeom>
          <a:noFill/>
          <a:ln>
            <a:noFill/>
          </a:ln>
        </p:spPr>
      </p:pic>
      <p:sp>
        <p:nvSpPr>
          <p:cNvPr id="2" name="Left Brace 1">
            <a:extLst>
              <a:ext uri="{FF2B5EF4-FFF2-40B4-BE49-F238E27FC236}">
                <a16:creationId xmlns:a16="http://schemas.microsoft.com/office/drawing/2014/main" id="{84C029AB-E442-4204-E92B-C382AFF82D11}"/>
              </a:ext>
            </a:extLst>
          </p:cNvPr>
          <p:cNvSpPr/>
          <p:nvPr/>
        </p:nvSpPr>
        <p:spPr>
          <a:xfrm rot="16200000">
            <a:off x="9629866" y="2859598"/>
            <a:ext cx="525517" cy="2664852"/>
          </a:xfrm>
          <a:prstGeom prst="lef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A55B1F9B-99EC-16F2-A493-5A5FF45885CE}"/>
              </a:ext>
            </a:extLst>
          </p:cNvPr>
          <p:cNvSpPr txBox="1"/>
          <p:nvPr/>
        </p:nvSpPr>
        <p:spPr>
          <a:xfrm>
            <a:off x="9064694" y="4534736"/>
            <a:ext cx="1655860" cy="523220"/>
          </a:xfrm>
          <a:prstGeom prst="rect">
            <a:avLst/>
          </a:prstGeom>
          <a:noFill/>
        </p:spPr>
        <p:txBody>
          <a:bodyPr wrap="square" rtlCol="0">
            <a:spAutoFit/>
          </a:bodyPr>
          <a:lstStyle/>
          <a:p>
            <a:r>
              <a:rPr lang="en-US" dirty="0"/>
              <a:t>Stefan-Boltzmann radiative cooling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d42838877f_0_4"/>
          <p:cNvSpPr txBox="1">
            <a:spLocks noGrp="1"/>
          </p:cNvSpPr>
          <p:nvPr>
            <p:ph type="title"/>
          </p:nvPr>
        </p:nvSpPr>
        <p:spPr>
          <a:xfrm>
            <a:off x="750300" y="769425"/>
            <a:ext cx="10691400" cy="613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Open Sans"/>
              <a:buNone/>
            </a:pPr>
            <a:r>
              <a:rPr lang="en-US"/>
              <a:t>NUMERICAL PARAMETERS</a:t>
            </a:r>
            <a:endParaRPr/>
          </a:p>
        </p:txBody>
      </p:sp>
      <p:pic>
        <p:nvPicPr>
          <p:cNvPr id="192" name="Google Shape;192;g3d42838877f_0_4"/>
          <p:cNvPicPr preferRelativeResize="0"/>
          <p:nvPr/>
        </p:nvPicPr>
        <p:blipFill>
          <a:blip r:embed="rId3">
            <a:alphaModFix/>
          </a:blip>
          <a:stretch>
            <a:fillRect/>
          </a:stretch>
        </p:blipFill>
        <p:spPr>
          <a:xfrm>
            <a:off x="1077663" y="1970600"/>
            <a:ext cx="10036675" cy="3138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d3c986cf74_3_106"/>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Open Sans"/>
              <a:buNone/>
            </a:pPr>
            <a:r>
              <a:rPr lang="en-US"/>
              <a:t>LINEAR ODE CODE</a:t>
            </a:r>
            <a:endParaRPr/>
          </a:p>
        </p:txBody>
      </p:sp>
      <p:sp>
        <p:nvSpPr>
          <p:cNvPr id="210" name="Google Shape;210;g3d3c986cf74_3_106"/>
          <p:cNvSpPr txBox="1">
            <a:spLocks noGrp="1"/>
          </p:cNvSpPr>
          <p:nvPr>
            <p:ph type="body" idx="1"/>
          </p:nvPr>
        </p:nvSpPr>
        <p:spPr>
          <a:xfrm>
            <a:off x="700635" y="2221992"/>
            <a:ext cx="10691265" cy="3739896"/>
          </a:xfrm>
          <a:prstGeom prst="rect">
            <a:avLst/>
          </a:prstGeom>
          <a:noFill/>
          <a:ln>
            <a:noFill/>
          </a:ln>
        </p:spPr>
        <p:txBody>
          <a:bodyPr spcFirstLastPara="1" wrap="square" lIns="91425" tIns="45700" rIns="91425" bIns="45700" anchor="t" anchorCtr="0">
            <a:normAutofit fontScale="62500" lnSpcReduction="20000"/>
          </a:bodyPr>
          <a:lstStyle/>
          <a:p>
            <a:pPr marL="228600" lvl="0" indent="-228600" algn="l" rtl="0">
              <a:lnSpc>
                <a:spcPct val="110000"/>
              </a:lnSpc>
              <a:spcBef>
                <a:spcPts val="0"/>
              </a:spcBef>
              <a:spcAft>
                <a:spcPts val="0"/>
              </a:spcAft>
              <a:buClr>
                <a:schemeClr val="dk1"/>
              </a:buClr>
              <a:buSzPct val="100000"/>
              <a:buChar char="•"/>
            </a:pPr>
            <a:r>
              <a:rPr lang="en-US" dirty="0"/>
              <a:t>do </a:t>
            </a:r>
            <a:r>
              <a:rPr lang="en-US" dirty="0" err="1"/>
              <a:t>i</a:t>
            </a:r>
            <a:r>
              <a:rPr lang="en-US" dirty="0"/>
              <a:t> = 0, </a:t>
            </a:r>
            <a:r>
              <a:rPr lang="en-US" dirty="0" err="1"/>
              <a:t>n_steps</a:t>
            </a:r>
            <a:endParaRPr dirty="0"/>
          </a:p>
          <a:p>
            <a:pPr marL="228600" lvl="0" indent="-228600" algn="l" rtl="0">
              <a:lnSpc>
                <a:spcPct val="110000"/>
              </a:lnSpc>
              <a:spcBef>
                <a:spcPts val="1000"/>
              </a:spcBef>
              <a:spcAft>
                <a:spcPts val="0"/>
              </a:spcAft>
              <a:buClr>
                <a:schemeClr val="dk1"/>
              </a:buClr>
              <a:buSzPct val="100000"/>
              <a:buChar char="•"/>
            </a:pPr>
            <a:r>
              <a:rPr lang="en-US" dirty="0"/>
              <a:t>        </a:t>
            </a:r>
            <a:r>
              <a:rPr lang="en-US" dirty="0" err="1"/>
              <a:t>y_exact_val</a:t>
            </a:r>
            <a:r>
              <a:rPr lang="en-US" dirty="0"/>
              <a:t> = </a:t>
            </a:r>
            <a:r>
              <a:rPr lang="en-US" dirty="0" err="1"/>
              <a:t>exact_solution</a:t>
            </a:r>
            <a:r>
              <a:rPr lang="en-US" dirty="0"/>
              <a:t>(x, y0, </a:t>
            </a:r>
            <a:r>
              <a:rPr lang="en-US" dirty="0" err="1"/>
              <a:t>x_start</a:t>
            </a:r>
            <a:r>
              <a:rPr lang="en-US" dirty="0"/>
              <a:t>)</a:t>
            </a:r>
            <a:endParaRPr dirty="0"/>
          </a:p>
          <a:p>
            <a:pPr marL="228600" lvl="0" indent="-228600" algn="l" rtl="0">
              <a:lnSpc>
                <a:spcPct val="110000"/>
              </a:lnSpc>
              <a:spcBef>
                <a:spcPts val="1000"/>
              </a:spcBef>
              <a:spcAft>
                <a:spcPts val="0"/>
              </a:spcAft>
              <a:buClr>
                <a:schemeClr val="dk1"/>
              </a:buClr>
              <a:buSzPct val="100000"/>
              <a:buChar char="•"/>
            </a:pPr>
            <a:r>
              <a:rPr lang="en-US" dirty="0"/>
              <a:t>        write(10,'(6F15.6)') x, </a:t>
            </a:r>
            <a:r>
              <a:rPr lang="en-US" dirty="0" err="1"/>
              <a:t>y_lin_e</a:t>
            </a:r>
            <a:r>
              <a:rPr lang="en-US" dirty="0"/>
              <a:t>, </a:t>
            </a:r>
            <a:r>
              <a:rPr lang="en-US" dirty="0" err="1"/>
              <a:t>y_lin_ie</a:t>
            </a:r>
            <a:r>
              <a:rPr lang="en-US" dirty="0"/>
              <a:t>, </a:t>
            </a:r>
            <a:r>
              <a:rPr lang="en-US" dirty="0" err="1"/>
              <a:t>y_exact_val</a:t>
            </a:r>
            <a:r>
              <a:rPr lang="en-US" dirty="0"/>
              <a:t>, abs(</a:t>
            </a:r>
            <a:r>
              <a:rPr lang="en-US" dirty="0" err="1"/>
              <a:t>y_lin_e</a:t>
            </a:r>
            <a:r>
              <a:rPr lang="en-US" dirty="0"/>
              <a:t>  - </a:t>
            </a:r>
            <a:r>
              <a:rPr lang="en-US" dirty="0" err="1"/>
              <a:t>y_exact_val</a:t>
            </a:r>
            <a:r>
              <a:rPr lang="en-US" dirty="0"/>
              <a:t>), abs(</a:t>
            </a:r>
            <a:r>
              <a:rPr lang="en-US" dirty="0" err="1"/>
              <a:t>y_lin_ie</a:t>
            </a:r>
            <a:r>
              <a:rPr lang="en-US" dirty="0"/>
              <a:t> - </a:t>
            </a:r>
            <a:r>
              <a:rPr lang="en-US" dirty="0" err="1"/>
              <a:t>y_exact_val</a:t>
            </a:r>
            <a:r>
              <a:rPr lang="en-US" dirty="0"/>
              <a:t>)</a:t>
            </a:r>
            <a:endParaRPr dirty="0"/>
          </a:p>
          <a:p>
            <a:pPr marL="228600" lvl="0" indent="-228600" algn="l" rtl="0">
              <a:lnSpc>
                <a:spcPct val="110000"/>
              </a:lnSpc>
              <a:spcBef>
                <a:spcPts val="1000"/>
              </a:spcBef>
              <a:spcAft>
                <a:spcPts val="0"/>
              </a:spcAft>
              <a:buClr>
                <a:schemeClr val="dk1"/>
              </a:buClr>
              <a:buSzPct val="100000"/>
              <a:buChar char="•"/>
            </a:pPr>
            <a:r>
              <a:rPr lang="en-US" dirty="0"/>
              <a:t>        ! Forward Euler (linear)</a:t>
            </a:r>
            <a:endParaRPr dirty="0"/>
          </a:p>
          <a:p>
            <a:pPr marL="228600" lvl="0" indent="-228600" algn="l" rtl="0">
              <a:lnSpc>
                <a:spcPct val="110000"/>
              </a:lnSpc>
              <a:spcBef>
                <a:spcPts val="1000"/>
              </a:spcBef>
              <a:spcAft>
                <a:spcPts val="0"/>
              </a:spcAft>
              <a:buClr>
                <a:schemeClr val="dk1"/>
              </a:buClr>
              <a:buSzPct val="100000"/>
              <a:buChar char="•"/>
            </a:pPr>
            <a:r>
              <a:rPr lang="en-US" dirty="0"/>
              <a:t>        </a:t>
            </a:r>
            <a:r>
              <a:rPr lang="en-US" dirty="0" err="1"/>
              <a:t>y_lin_e</a:t>
            </a:r>
            <a:r>
              <a:rPr lang="en-US" dirty="0"/>
              <a:t> = </a:t>
            </a:r>
            <a:r>
              <a:rPr lang="en-US" dirty="0" err="1"/>
              <a:t>y_lin_e</a:t>
            </a:r>
            <a:r>
              <a:rPr lang="en-US" dirty="0"/>
              <a:t> + h * f(x, </a:t>
            </a:r>
            <a:r>
              <a:rPr lang="en-US" dirty="0" err="1"/>
              <a:t>y_lin_e</a:t>
            </a:r>
            <a:r>
              <a:rPr lang="en-US" dirty="0"/>
              <a:t>)</a:t>
            </a:r>
            <a:endParaRPr dirty="0"/>
          </a:p>
          <a:p>
            <a:pPr marL="228600" lvl="0" indent="-228600" algn="l" rtl="0">
              <a:lnSpc>
                <a:spcPct val="110000"/>
              </a:lnSpc>
              <a:spcBef>
                <a:spcPts val="1000"/>
              </a:spcBef>
              <a:spcAft>
                <a:spcPts val="0"/>
              </a:spcAft>
              <a:buClr>
                <a:schemeClr val="dk1"/>
              </a:buClr>
              <a:buSzPct val="100000"/>
              <a:buChar char="•"/>
            </a:pPr>
            <a:r>
              <a:rPr lang="en-US" dirty="0"/>
              <a:t>        ! Improved Euler / Heun (linear)</a:t>
            </a:r>
            <a:endParaRPr dirty="0"/>
          </a:p>
          <a:p>
            <a:pPr marL="228600" lvl="0" indent="-228600" algn="l" rtl="0">
              <a:lnSpc>
                <a:spcPct val="110000"/>
              </a:lnSpc>
              <a:spcBef>
                <a:spcPts val="1000"/>
              </a:spcBef>
              <a:spcAft>
                <a:spcPts val="0"/>
              </a:spcAft>
              <a:buClr>
                <a:schemeClr val="dk1"/>
              </a:buClr>
              <a:buSzPct val="100000"/>
              <a:buChar char="•"/>
            </a:pPr>
            <a:r>
              <a:rPr lang="en-US" dirty="0"/>
              <a:t>        !    k1 = slope at (x, y), k2 = slope at predictor (</a:t>
            </a:r>
            <a:r>
              <a:rPr lang="en-US" dirty="0" err="1"/>
              <a:t>x+h</a:t>
            </a:r>
            <a:r>
              <a:rPr lang="en-US" dirty="0"/>
              <a:t>, y + h*k1), </a:t>
            </a:r>
            <a:r>
              <a:rPr lang="en-US" dirty="0" err="1"/>
              <a:t>y_new</a:t>
            </a:r>
            <a:r>
              <a:rPr lang="en-US" dirty="0"/>
              <a:t> = y + h/2 * (k1 + k2)</a:t>
            </a:r>
            <a:endParaRPr dirty="0"/>
          </a:p>
          <a:p>
            <a:pPr marL="228600" lvl="0" indent="-228600" algn="l" rtl="0">
              <a:lnSpc>
                <a:spcPct val="110000"/>
              </a:lnSpc>
              <a:spcBef>
                <a:spcPts val="1000"/>
              </a:spcBef>
              <a:spcAft>
                <a:spcPts val="0"/>
              </a:spcAft>
              <a:buClr>
                <a:schemeClr val="dk1"/>
              </a:buClr>
              <a:buSzPct val="100000"/>
              <a:buChar char="•"/>
            </a:pPr>
            <a:r>
              <a:rPr lang="en-US" dirty="0"/>
              <a:t>        k1 = f(x,     </a:t>
            </a:r>
            <a:r>
              <a:rPr lang="en-US" dirty="0" err="1"/>
              <a:t>y_lin_ie</a:t>
            </a:r>
            <a:r>
              <a:rPr lang="en-US" dirty="0"/>
              <a:t>)</a:t>
            </a:r>
            <a:endParaRPr dirty="0"/>
          </a:p>
          <a:p>
            <a:pPr marL="228600" lvl="0" indent="-228600" algn="l" rtl="0">
              <a:lnSpc>
                <a:spcPct val="110000"/>
              </a:lnSpc>
              <a:spcBef>
                <a:spcPts val="1000"/>
              </a:spcBef>
              <a:spcAft>
                <a:spcPts val="0"/>
              </a:spcAft>
              <a:buClr>
                <a:schemeClr val="dk1"/>
              </a:buClr>
              <a:buSzPct val="100000"/>
              <a:buChar char="•"/>
            </a:pPr>
            <a:r>
              <a:rPr lang="en-US" dirty="0"/>
              <a:t>        k2 = f(x + h, </a:t>
            </a:r>
            <a:r>
              <a:rPr lang="en-US" dirty="0" err="1"/>
              <a:t>y_lin_ie</a:t>
            </a:r>
            <a:r>
              <a:rPr lang="en-US" dirty="0"/>
              <a:t> + h * k1)</a:t>
            </a:r>
            <a:endParaRPr dirty="0"/>
          </a:p>
          <a:p>
            <a:pPr marL="228600" lvl="0" indent="-228600" algn="l" rtl="0">
              <a:lnSpc>
                <a:spcPct val="110000"/>
              </a:lnSpc>
              <a:spcBef>
                <a:spcPts val="1000"/>
              </a:spcBef>
              <a:spcAft>
                <a:spcPts val="0"/>
              </a:spcAft>
              <a:buClr>
                <a:schemeClr val="dk1"/>
              </a:buClr>
              <a:buSzPct val="100000"/>
              <a:buChar char="•"/>
            </a:pPr>
            <a:r>
              <a:rPr lang="en-US" dirty="0"/>
              <a:t>        </a:t>
            </a:r>
            <a:r>
              <a:rPr lang="en-US" dirty="0" err="1"/>
              <a:t>y_lin_ie</a:t>
            </a:r>
            <a:r>
              <a:rPr lang="en-US" dirty="0"/>
              <a:t> = </a:t>
            </a:r>
            <a:r>
              <a:rPr lang="en-US" dirty="0" err="1"/>
              <a:t>y_lin_ie</a:t>
            </a:r>
            <a:r>
              <a:rPr lang="en-US" dirty="0"/>
              <a:t> + (h / 2.0d0) * (k1 + k2)</a:t>
            </a:r>
            <a:endParaRPr dirty="0"/>
          </a:p>
          <a:p>
            <a:pPr marL="228600" lvl="0" indent="-228600" algn="l" rtl="0">
              <a:lnSpc>
                <a:spcPct val="110000"/>
              </a:lnSpc>
              <a:spcBef>
                <a:spcPts val="1000"/>
              </a:spcBef>
              <a:spcAft>
                <a:spcPts val="0"/>
              </a:spcAft>
              <a:buClr>
                <a:schemeClr val="dk1"/>
              </a:buClr>
              <a:buSzPct val="100000"/>
              <a:buChar char="•"/>
            </a:pPr>
            <a:r>
              <a:rPr lang="en-US" dirty="0"/>
              <a:t>        x = x + h</a:t>
            </a:r>
            <a:endParaRPr dirty="0"/>
          </a:p>
          <a:p>
            <a:pPr marL="228600" lvl="0" indent="-228600" algn="l" rtl="0">
              <a:lnSpc>
                <a:spcPct val="110000"/>
              </a:lnSpc>
              <a:spcBef>
                <a:spcPts val="1000"/>
              </a:spcBef>
              <a:spcAft>
                <a:spcPts val="0"/>
              </a:spcAft>
              <a:buClr>
                <a:schemeClr val="dk1"/>
              </a:buClr>
              <a:buSzPct val="100000"/>
              <a:buChar char="•"/>
            </a:pPr>
            <a:r>
              <a:rPr lang="en-US" dirty="0"/>
              <a:t>end do</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d3c986cf74_3_111"/>
          <p:cNvSpPr txBox="1">
            <a:spLocks noGrp="1"/>
          </p:cNvSpPr>
          <p:nvPr>
            <p:ph type="title"/>
          </p:nvPr>
        </p:nvSpPr>
        <p:spPr>
          <a:xfrm>
            <a:off x="700635" y="914400"/>
            <a:ext cx="10691265" cy="130759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000"/>
              <a:buFont typeface="Open Sans"/>
              <a:buNone/>
            </a:pPr>
            <a:r>
              <a:rPr lang="en-US"/>
              <a:t>NON-LINEAR ODE CODE</a:t>
            </a:r>
            <a:endParaRPr/>
          </a:p>
        </p:txBody>
      </p:sp>
      <p:sp>
        <p:nvSpPr>
          <p:cNvPr id="216" name="Google Shape;216;g3d3c986cf74_3_111"/>
          <p:cNvSpPr txBox="1">
            <a:spLocks noGrp="1"/>
          </p:cNvSpPr>
          <p:nvPr>
            <p:ph type="body" idx="1"/>
          </p:nvPr>
        </p:nvSpPr>
        <p:spPr>
          <a:xfrm>
            <a:off x="700635" y="2221992"/>
            <a:ext cx="10691265" cy="3739896"/>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110000"/>
              </a:lnSpc>
              <a:spcBef>
                <a:spcPts val="0"/>
              </a:spcBef>
              <a:spcAft>
                <a:spcPts val="0"/>
              </a:spcAft>
              <a:buClr>
                <a:schemeClr val="dk1"/>
              </a:buClr>
              <a:buSzPct val="100000"/>
              <a:buChar char="•"/>
            </a:pPr>
            <a:r>
              <a:rPr lang="en-US"/>
              <a:t>do i = 0, n_steps</a:t>
            </a:r>
            <a:endParaRPr/>
          </a:p>
          <a:p>
            <a:pPr marL="228600" lvl="0" indent="-228600" algn="l" rtl="0">
              <a:lnSpc>
                <a:spcPct val="110000"/>
              </a:lnSpc>
              <a:spcBef>
                <a:spcPts val="1000"/>
              </a:spcBef>
              <a:spcAft>
                <a:spcPts val="0"/>
              </a:spcAft>
              <a:buClr>
                <a:schemeClr val="dk1"/>
              </a:buClr>
              <a:buSzPct val="100000"/>
              <a:buChar char="•"/>
            </a:pPr>
            <a:r>
              <a:rPr lang="en-US"/>
              <a:t>        write(11,'(3F15.6)') x, y_nlin_e, y_nlin_ie</a:t>
            </a:r>
            <a:endParaRPr/>
          </a:p>
          <a:p>
            <a:pPr marL="228600" lvl="0" indent="-228600" algn="l" rtl="0">
              <a:lnSpc>
                <a:spcPct val="110000"/>
              </a:lnSpc>
              <a:spcBef>
                <a:spcPts val="1000"/>
              </a:spcBef>
              <a:spcAft>
                <a:spcPts val="0"/>
              </a:spcAft>
              <a:buClr>
                <a:schemeClr val="dk1"/>
              </a:buClr>
              <a:buSzPct val="100000"/>
              <a:buChar char="•"/>
            </a:pPr>
            <a:r>
              <a:rPr lang="en-US"/>
              <a:t>        ! Forward Euler (nonlinear)</a:t>
            </a:r>
            <a:endParaRPr/>
          </a:p>
          <a:p>
            <a:pPr marL="228600" lvl="0" indent="-228600" algn="l" rtl="0">
              <a:lnSpc>
                <a:spcPct val="110000"/>
              </a:lnSpc>
              <a:spcBef>
                <a:spcPts val="1000"/>
              </a:spcBef>
              <a:spcAft>
                <a:spcPts val="0"/>
              </a:spcAft>
              <a:buClr>
                <a:schemeClr val="dk1"/>
              </a:buClr>
              <a:buSzPct val="100000"/>
              <a:buChar char="•"/>
            </a:pPr>
            <a:r>
              <a:rPr lang="en-US"/>
              <a:t>        y_nlin_e = y_nlin_e + h * w(x, y_nlin_e)</a:t>
            </a:r>
            <a:endParaRPr/>
          </a:p>
          <a:p>
            <a:pPr marL="228600" lvl="0" indent="-228600" algn="l" rtl="0">
              <a:lnSpc>
                <a:spcPct val="110000"/>
              </a:lnSpc>
              <a:spcBef>
                <a:spcPts val="1000"/>
              </a:spcBef>
              <a:spcAft>
                <a:spcPts val="0"/>
              </a:spcAft>
              <a:buClr>
                <a:schemeClr val="dk1"/>
              </a:buClr>
              <a:buSzPct val="100000"/>
              <a:buChar char="•"/>
            </a:pPr>
            <a:r>
              <a:rPr lang="en-US"/>
              <a:t>        ! Improved Euler / Heun (nonlinear)</a:t>
            </a:r>
            <a:endParaRPr/>
          </a:p>
          <a:p>
            <a:pPr marL="228600" lvl="0" indent="-228600" algn="l" rtl="0">
              <a:lnSpc>
                <a:spcPct val="110000"/>
              </a:lnSpc>
              <a:spcBef>
                <a:spcPts val="1000"/>
              </a:spcBef>
              <a:spcAft>
                <a:spcPts val="0"/>
              </a:spcAft>
              <a:buClr>
                <a:schemeClr val="dk1"/>
              </a:buClr>
              <a:buSzPct val="100000"/>
              <a:buChar char="•"/>
            </a:pPr>
            <a:r>
              <a:rPr lang="en-US"/>
              <a:t>        k1 = w(x,     y_nlin_ie)</a:t>
            </a:r>
            <a:endParaRPr/>
          </a:p>
          <a:p>
            <a:pPr marL="228600" lvl="0" indent="-228600" algn="l" rtl="0">
              <a:lnSpc>
                <a:spcPct val="110000"/>
              </a:lnSpc>
              <a:spcBef>
                <a:spcPts val="1000"/>
              </a:spcBef>
              <a:spcAft>
                <a:spcPts val="0"/>
              </a:spcAft>
              <a:buClr>
                <a:schemeClr val="dk1"/>
              </a:buClr>
              <a:buSzPct val="100000"/>
              <a:buChar char="•"/>
            </a:pPr>
            <a:r>
              <a:rPr lang="en-US"/>
              <a:t>        k2 = w(x + h, y_nlin_ie + h * k1)</a:t>
            </a:r>
            <a:endParaRPr/>
          </a:p>
          <a:p>
            <a:pPr marL="228600" lvl="0" indent="-228600" algn="l" rtl="0">
              <a:lnSpc>
                <a:spcPct val="110000"/>
              </a:lnSpc>
              <a:spcBef>
                <a:spcPts val="1000"/>
              </a:spcBef>
              <a:spcAft>
                <a:spcPts val="0"/>
              </a:spcAft>
              <a:buClr>
                <a:schemeClr val="dk1"/>
              </a:buClr>
              <a:buSzPct val="100000"/>
              <a:buChar char="•"/>
            </a:pPr>
            <a:r>
              <a:rPr lang="en-US"/>
              <a:t>        y_nlin_ie = y_nlin_ie + (h / 2.0d0) * (k1 + k2)</a:t>
            </a:r>
            <a:endParaRPr/>
          </a:p>
          <a:p>
            <a:pPr marL="228600" lvl="0" indent="-228600" algn="l" rtl="0">
              <a:lnSpc>
                <a:spcPct val="110000"/>
              </a:lnSpc>
              <a:spcBef>
                <a:spcPts val="1000"/>
              </a:spcBef>
              <a:spcAft>
                <a:spcPts val="0"/>
              </a:spcAft>
              <a:buClr>
                <a:schemeClr val="dk1"/>
              </a:buClr>
              <a:buSzPct val="100000"/>
              <a:buChar char="•"/>
            </a:pPr>
            <a:r>
              <a:rPr lang="en-US"/>
              <a:t>        x = x + h</a:t>
            </a:r>
            <a:endParaRPr/>
          </a:p>
          <a:p>
            <a:pPr marL="228600" lvl="0" indent="-228600" algn="l" rtl="0">
              <a:lnSpc>
                <a:spcPct val="110000"/>
              </a:lnSpc>
              <a:spcBef>
                <a:spcPts val="1000"/>
              </a:spcBef>
              <a:spcAft>
                <a:spcPts val="0"/>
              </a:spcAft>
              <a:buClr>
                <a:schemeClr val="dk1"/>
              </a:buClr>
              <a:buSzPct val="100000"/>
              <a:buChar char="•"/>
            </a:pPr>
            <a:r>
              <a:rPr lang="en-US"/>
              <a:t>end do</a:t>
            </a:r>
            <a:endParaRPr/>
          </a:p>
        </p:txBody>
      </p:sp>
      <p:sp>
        <p:nvSpPr>
          <p:cNvPr id="2" name="Rectangle 1">
            <a:extLst>
              <a:ext uri="{FF2B5EF4-FFF2-40B4-BE49-F238E27FC236}">
                <a16:creationId xmlns:a16="http://schemas.microsoft.com/office/drawing/2014/main" id="{7DF786F4-1217-FE2F-737D-C23FF787465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5E580D1D-EDC4-44A0-C59B-357E6B08CC83}"/>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g3d3c986cf74_3_13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pic>
        <p:nvPicPr>
          <p:cNvPr id="228" name="Google Shape;228;g3d3c986cf74_3_131"/>
          <p:cNvPicPr preferRelativeResize="0"/>
          <p:nvPr/>
        </p:nvPicPr>
        <p:blipFill rotWithShape="1">
          <a:blip r:embed="rId3">
            <a:alphaModFix/>
          </a:blip>
          <a:srcRect l="-3" r="-3"/>
          <a:stretch/>
        </p:blipFill>
        <p:spPr>
          <a:xfrm>
            <a:off x="1649952" y="495425"/>
            <a:ext cx="8892097" cy="6357475"/>
          </a:xfrm>
          <a:prstGeom prst="rect">
            <a:avLst/>
          </a:prstGeom>
          <a:noFill/>
          <a:ln>
            <a:noFill/>
          </a:ln>
        </p:spPr>
      </p:pic>
      <p:cxnSp>
        <p:nvCxnSpPr>
          <p:cNvPr id="229" name="Google Shape;229;g3d3c986cf74_3_131"/>
          <p:cNvCxnSpPr/>
          <p:nvPr/>
        </p:nvCxnSpPr>
        <p:spPr>
          <a:xfrm rot="10800000" flipH="1">
            <a:off x="871734" y="495432"/>
            <a:ext cx="2305500" cy="5100"/>
          </a:xfrm>
          <a:prstGeom prst="straightConnector1">
            <a:avLst/>
          </a:prstGeom>
          <a:noFill/>
          <a:ln w="44450" cap="flat" cmpd="sng">
            <a:solidFill>
              <a:schemeClr val="dk1"/>
            </a:solidFill>
            <a:prstDash val="solid"/>
            <a:miter lim="800000"/>
            <a:headEnd type="none" w="sm" len="sm"/>
            <a:tailEnd type="none" w="sm" len="sm"/>
          </a:ln>
        </p:spPr>
      </p:cxnSp>
      <p:sp>
        <p:nvSpPr>
          <p:cNvPr id="230" name="Google Shape;230;g3d3c986cf74_3_131"/>
          <p:cNvSpPr txBox="1">
            <a:spLocks noGrp="1"/>
          </p:cNvSpPr>
          <p:nvPr>
            <p:ph type="title"/>
          </p:nvPr>
        </p:nvSpPr>
        <p:spPr>
          <a:xfrm>
            <a:off x="794081" y="-50873"/>
            <a:ext cx="3799800" cy="50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Open Sans"/>
              <a:buNone/>
            </a:pPr>
            <a:r>
              <a:rPr lang="en-US" sz="3600"/>
              <a:t>37 POINTS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sp>
        <p:nvSpPr>
          <p:cNvPr id="235" name="Google Shape;235;g3d3c986cf74_3_13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pic>
        <p:nvPicPr>
          <p:cNvPr id="236" name="Google Shape;236;g3d3c986cf74_3_139"/>
          <p:cNvPicPr preferRelativeResize="0"/>
          <p:nvPr/>
        </p:nvPicPr>
        <p:blipFill rotWithShape="1">
          <a:blip r:embed="rId3">
            <a:alphaModFix/>
          </a:blip>
          <a:srcRect/>
          <a:stretch/>
        </p:blipFill>
        <p:spPr>
          <a:xfrm>
            <a:off x="1650207" y="495425"/>
            <a:ext cx="8891579" cy="6357475"/>
          </a:xfrm>
          <a:prstGeom prst="rect">
            <a:avLst/>
          </a:prstGeom>
          <a:noFill/>
          <a:ln>
            <a:noFill/>
          </a:ln>
        </p:spPr>
      </p:pic>
      <p:cxnSp>
        <p:nvCxnSpPr>
          <p:cNvPr id="237" name="Google Shape;237;g3d3c986cf74_3_139"/>
          <p:cNvCxnSpPr/>
          <p:nvPr/>
        </p:nvCxnSpPr>
        <p:spPr>
          <a:xfrm rot="10800000" flipH="1">
            <a:off x="871734" y="495432"/>
            <a:ext cx="2305500" cy="5100"/>
          </a:xfrm>
          <a:prstGeom prst="straightConnector1">
            <a:avLst/>
          </a:prstGeom>
          <a:noFill/>
          <a:ln w="44450" cap="flat" cmpd="sng">
            <a:solidFill>
              <a:schemeClr val="dk1"/>
            </a:solidFill>
            <a:prstDash val="solid"/>
            <a:miter lim="800000"/>
            <a:headEnd type="none" w="sm" len="sm"/>
            <a:tailEnd type="none" w="sm" len="sm"/>
          </a:ln>
        </p:spPr>
      </p:cxnSp>
      <p:sp>
        <p:nvSpPr>
          <p:cNvPr id="238" name="Google Shape;238;g3d3c986cf74_3_139"/>
          <p:cNvSpPr txBox="1">
            <a:spLocks noGrp="1"/>
          </p:cNvSpPr>
          <p:nvPr>
            <p:ph type="title"/>
          </p:nvPr>
        </p:nvSpPr>
        <p:spPr>
          <a:xfrm>
            <a:off x="794081" y="-50873"/>
            <a:ext cx="3799800" cy="50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Open Sans"/>
              <a:buNone/>
            </a:pPr>
            <a:r>
              <a:rPr lang="en-US" sz="3600"/>
              <a:t>73 POINTS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g3d3c986cf74_3_147"/>
          <p:cNvSpPr/>
          <p:nvPr/>
        </p:nvSpPr>
        <p:spPr>
          <a:xfrm>
            <a:off x="10" y="8"/>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pic>
        <p:nvPicPr>
          <p:cNvPr id="244" name="Google Shape;244;g3d3c986cf74_3_147"/>
          <p:cNvPicPr preferRelativeResize="0"/>
          <p:nvPr/>
        </p:nvPicPr>
        <p:blipFill rotWithShape="1">
          <a:blip r:embed="rId3">
            <a:alphaModFix/>
          </a:blip>
          <a:srcRect/>
          <a:stretch/>
        </p:blipFill>
        <p:spPr>
          <a:xfrm>
            <a:off x="1536302" y="500525"/>
            <a:ext cx="8891600" cy="6357475"/>
          </a:xfrm>
          <a:prstGeom prst="rect">
            <a:avLst/>
          </a:prstGeom>
          <a:noFill/>
          <a:ln>
            <a:noFill/>
          </a:ln>
        </p:spPr>
      </p:pic>
      <p:sp>
        <p:nvSpPr>
          <p:cNvPr id="245" name="Google Shape;245;g3d3c986cf74_3_147"/>
          <p:cNvSpPr txBox="1">
            <a:spLocks noGrp="1"/>
          </p:cNvSpPr>
          <p:nvPr>
            <p:ph type="title"/>
          </p:nvPr>
        </p:nvSpPr>
        <p:spPr>
          <a:xfrm>
            <a:off x="794081" y="-50873"/>
            <a:ext cx="3799800" cy="50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1"/>
              </a:buClr>
              <a:buSzPct val="100000"/>
              <a:buFont typeface="Open Sans"/>
              <a:buNone/>
            </a:pPr>
            <a:r>
              <a:rPr lang="en-US" sz="3600"/>
              <a:t>361 POINTS</a:t>
            </a:r>
            <a:endParaRPr/>
          </a:p>
        </p:txBody>
      </p:sp>
      <p:cxnSp>
        <p:nvCxnSpPr>
          <p:cNvPr id="246" name="Google Shape;246;g3d3c986cf74_3_147"/>
          <p:cNvCxnSpPr/>
          <p:nvPr/>
        </p:nvCxnSpPr>
        <p:spPr>
          <a:xfrm rot="10800000" flipH="1">
            <a:off x="871734" y="495432"/>
            <a:ext cx="2305500" cy="5100"/>
          </a:xfrm>
          <a:prstGeom prst="straightConnector1">
            <a:avLst/>
          </a:prstGeom>
          <a:noFill/>
          <a:ln w="44450" cap="flat" cmpd="sng">
            <a:solidFill>
              <a:schemeClr val="dk1"/>
            </a:solidFill>
            <a:prstDash val="solid"/>
            <a:miter lim="800000"/>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0"/>
        <p:cNvGrpSpPr/>
        <p:nvPr/>
      </p:nvGrpSpPr>
      <p:grpSpPr>
        <a:xfrm>
          <a:off x="0" y="0"/>
          <a:ext cx="0" cy="0"/>
          <a:chOff x="0" y="0"/>
          <a:chExt cx="0" cy="0"/>
        </a:xfrm>
      </p:grpSpPr>
      <p:sp>
        <p:nvSpPr>
          <p:cNvPr id="251" name="Google Shape;251;g3d3c986cf74_3_155"/>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pic>
        <p:nvPicPr>
          <p:cNvPr id="252" name="Google Shape;252;g3d3c986cf74_3_155"/>
          <p:cNvPicPr preferRelativeResize="0"/>
          <p:nvPr/>
        </p:nvPicPr>
        <p:blipFill rotWithShape="1">
          <a:blip r:embed="rId3">
            <a:alphaModFix/>
          </a:blip>
          <a:srcRect/>
          <a:stretch/>
        </p:blipFill>
        <p:spPr>
          <a:xfrm>
            <a:off x="1197425" y="0"/>
            <a:ext cx="979714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6"/>
        <p:cNvGrpSpPr/>
        <p:nvPr/>
      </p:nvGrpSpPr>
      <p:grpSpPr>
        <a:xfrm>
          <a:off x="0" y="0"/>
          <a:ext cx="0" cy="0"/>
          <a:chOff x="0" y="0"/>
          <a:chExt cx="0" cy="0"/>
        </a:xfrm>
      </p:grpSpPr>
      <p:sp>
        <p:nvSpPr>
          <p:cNvPr id="257" name="Google Shape;257;g3d3c986cf74_3_163"/>
          <p:cNvSpPr/>
          <p:nvPr/>
        </p:nvSpPr>
        <p:spPr>
          <a:xfrm>
            <a:off x="0" y="0"/>
            <a:ext cx="12192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ustria"/>
              <a:ea typeface="Lustria"/>
              <a:cs typeface="Lustria"/>
              <a:sym typeface="Lustria"/>
            </a:endParaRPr>
          </a:p>
        </p:txBody>
      </p:sp>
      <p:pic>
        <p:nvPicPr>
          <p:cNvPr id="258" name="Google Shape;258;g3d3c986cf74_3_163"/>
          <p:cNvPicPr preferRelativeResize="0"/>
          <p:nvPr/>
        </p:nvPicPr>
        <p:blipFill rotWithShape="1">
          <a:blip r:embed="rId3">
            <a:alphaModFix/>
          </a:blip>
          <a:srcRect/>
          <a:stretch/>
        </p:blipFill>
        <p:spPr>
          <a:xfrm>
            <a:off x="1197424" y="-3"/>
            <a:ext cx="9797143"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BB490-1410-F72D-9A67-E654425DCDAB}"/>
              </a:ext>
            </a:extLst>
          </p:cNvPr>
          <p:cNvSpPr>
            <a:spLocks noGrp="1"/>
          </p:cNvSpPr>
          <p:nvPr>
            <p:ph type="title"/>
          </p:nvPr>
        </p:nvSpPr>
        <p:spPr>
          <a:xfrm>
            <a:off x="700635" y="914400"/>
            <a:ext cx="10691265" cy="1307592"/>
          </a:xfrm>
        </p:spPr>
        <p:txBody>
          <a:bodyPr wrap="square" anchor="ctr">
            <a:normAutofit/>
          </a:bodyPr>
          <a:lstStyle/>
          <a:p>
            <a:pPr>
              <a:lnSpc>
                <a:spcPct val="90000"/>
              </a:lnSpc>
            </a:pPr>
            <a:r>
              <a:rPr lang="en-US" dirty="0"/>
              <a:t>Future Research into Computational Solutions</a:t>
            </a:r>
            <a:endParaRPr lang="en-US"/>
          </a:p>
        </p:txBody>
      </p:sp>
      <p:pic>
        <p:nvPicPr>
          <p:cNvPr id="5" name="Video 4" descr="Binary Code Globe">
            <a:extLst>
              <a:ext uri="{FF2B5EF4-FFF2-40B4-BE49-F238E27FC236}">
                <a16:creationId xmlns:a16="http://schemas.microsoft.com/office/drawing/2014/main" id="{810C5E42-FEC9-033D-B72B-608A133B6F5B}"/>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0676" b="17154"/>
          <a:stretch>
            <a:fillRect/>
          </a:stretch>
        </p:blipFill>
        <p:spPr>
          <a:xfrm>
            <a:off x="700635" y="2412492"/>
            <a:ext cx="10691265" cy="4352544"/>
          </a:xfrm>
          <a:prstGeom prst="rect">
            <a:avLst/>
          </a:prstGeom>
          <a:noFill/>
          <a:ln>
            <a:noFill/>
          </a:ln>
        </p:spPr>
      </p:pic>
    </p:spTree>
    <p:extLst>
      <p:ext uri="{BB962C8B-B14F-4D97-AF65-F5344CB8AC3E}">
        <p14:creationId xmlns:p14="http://schemas.microsoft.com/office/powerpoint/2010/main" val="329816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9E9D-202F-5125-E5F0-9CC0EBB006E8}"/>
              </a:ext>
            </a:extLst>
          </p:cNvPr>
          <p:cNvSpPr>
            <a:spLocks noGrp="1"/>
          </p:cNvSpPr>
          <p:nvPr>
            <p:ph type="title"/>
          </p:nvPr>
        </p:nvSpPr>
        <p:spPr>
          <a:xfrm>
            <a:off x="700635" y="914400"/>
            <a:ext cx="10691265" cy="1307592"/>
          </a:xfrm>
        </p:spPr>
        <p:txBody>
          <a:bodyPr wrap="square" anchor="t">
            <a:normAutofit/>
          </a:bodyPr>
          <a:lstStyle/>
          <a:p>
            <a:r>
              <a:rPr lang="en-US" dirty="0"/>
              <a:t>Higher-Order Numerical Methods (RK4)</a:t>
            </a:r>
          </a:p>
        </p:txBody>
      </p:sp>
      <p:sp>
        <p:nvSpPr>
          <p:cNvPr id="7" name="Text Placeholder 2">
            <a:extLst>
              <a:ext uri="{FF2B5EF4-FFF2-40B4-BE49-F238E27FC236}">
                <a16:creationId xmlns:a16="http://schemas.microsoft.com/office/drawing/2014/main" id="{D92B31EC-5FEF-9B19-EBFA-01F8DBEFBBB0}"/>
              </a:ext>
            </a:extLst>
          </p:cNvPr>
          <p:cNvSpPr>
            <a:spLocks noGrp="1"/>
          </p:cNvSpPr>
          <p:nvPr>
            <p:ph type="body" idx="1"/>
          </p:nvPr>
        </p:nvSpPr>
        <p:spPr>
          <a:xfrm>
            <a:off x="700635" y="2221992"/>
            <a:ext cx="10691265" cy="3739896"/>
          </a:xfrm>
        </p:spPr>
        <p:txBody>
          <a:bodyPr/>
          <a:lstStyle/>
          <a:p>
            <a:r>
              <a:rPr lang="en-US" dirty="0"/>
              <a:t>Implement the classical 4th-order Runge-</a:t>
            </a:r>
            <a:r>
              <a:rPr lang="en-US" dirty="0" err="1"/>
              <a:t>Kutta</a:t>
            </a:r>
            <a:r>
              <a:rPr lang="en-US" dirty="0"/>
              <a:t> method (RK4). </a:t>
            </a:r>
          </a:p>
          <a:p>
            <a:r>
              <a:rPr lang="en-US" dirty="0"/>
              <a:t>Uses four slope evaluations per step and achieves O(h⁴) global error. </a:t>
            </a:r>
          </a:p>
          <a:p>
            <a:r>
              <a:rPr lang="en-US" dirty="0"/>
              <a:t>RK4 would provide a near-exact benchmark for the nonlinear ODE, where no analytical solution is available, and allow a complete three-way comparison of accuracy vs. computational cost across all step sizes tested here. </a:t>
            </a:r>
          </a:p>
        </p:txBody>
      </p:sp>
    </p:spTree>
    <p:extLst>
      <p:ext uri="{BB962C8B-B14F-4D97-AF65-F5344CB8AC3E}">
        <p14:creationId xmlns:p14="http://schemas.microsoft.com/office/powerpoint/2010/main" val="1858619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4597-3A36-0226-9237-25AC5ED46DD8}"/>
              </a:ext>
            </a:extLst>
          </p:cNvPr>
          <p:cNvSpPr>
            <a:spLocks noGrp="1"/>
          </p:cNvSpPr>
          <p:nvPr>
            <p:ph type="title"/>
          </p:nvPr>
        </p:nvSpPr>
        <p:spPr>
          <a:xfrm>
            <a:off x="700635" y="914400"/>
            <a:ext cx="10691265" cy="1307592"/>
          </a:xfrm>
        </p:spPr>
        <p:txBody>
          <a:bodyPr wrap="square" anchor="t">
            <a:normAutofit/>
          </a:bodyPr>
          <a:lstStyle/>
          <a:p>
            <a:r>
              <a:rPr lang="en-US" dirty="0"/>
              <a:t>Monte Carlo Uncertainty Quantification</a:t>
            </a:r>
          </a:p>
        </p:txBody>
      </p:sp>
      <p:sp>
        <p:nvSpPr>
          <p:cNvPr id="7" name="Text Placeholder 2">
            <a:extLst>
              <a:ext uri="{FF2B5EF4-FFF2-40B4-BE49-F238E27FC236}">
                <a16:creationId xmlns:a16="http://schemas.microsoft.com/office/drawing/2014/main" id="{7046D23F-FC7E-CEAB-0D31-004B096091E5}"/>
              </a:ext>
            </a:extLst>
          </p:cNvPr>
          <p:cNvSpPr>
            <a:spLocks noGrp="1"/>
          </p:cNvSpPr>
          <p:nvPr>
            <p:ph type="body" idx="1"/>
          </p:nvPr>
        </p:nvSpPr>
        <p:spPr>
          <a:xfrm>
            <a:off x="700635" y="2221992"/>
            <a:ext cx="10691265" cy="3739896"/>
          </a:xfrm>
        </p:spPr>
        <p:txBody>
          <a:bodyPr>
            <a:normAutofit/>
          </a:bodyPr>
          <a:lstStyle/>
          <a:p>
            <a:r>
              <a:rPr lang="en-US" dirty="0"/>
              <a:t>The physical parameters used in this study (hᴀ, </a:t>
            </a:r>
            <a:r>
              <a:rPr lang="en-US" dirty="0" err="1"/>
              <a:t>ε</a:t>
            </a:r>
            <a:r>
              <a:rPr lang="en-US" dirty="0"/>
              <a:t>, G, α, </a:t>
            </a:r>
            <a:r>
              <a:rPr lang="en-US" dirty="0" err="1"/>
              <a:t>η</a:t>
            </a:r>
            <a:r>
              <a:rPr lang="en-US" dirty="0"/>
              <a:t>) each carry real-world uncertainty. </a:t>
            </a:r>
          </a:p>
          <a:p>
            <a:r>
              <a:rPr lang="en-US" dirty="0"/>
              <a:t>Convection coefficients can vary by ±20–50% depending on wind speed; solar irradiance fluctuates with cloud cover; emissivity degrades over panel lifetime. </a:t>
            </a:r>
          </a:p>
        </p:txBody>
      </p:sp>
    </p:spTree>
    <p:extLst>
      <p:ext uri="{BB962C8B-B14F-4D97-AF65-F5344CB8AC3E}">
        <p14:creationId xmlns:p14="http://schemas.microsoft.com/office/powerpoint/2010/main" val="3883726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2572-E2B5-4B6D-6B40-6B1A8DA7AAD6}"/>
              </a:ext>
            </a:extLst>
          </p:cNvPr>
          <p:cNvSpPr>
            <a:spLocks noGrp="1"/>
          </p:cNvSpPr>
          <p:nvPr>
            <p:ph type="title"/>
          </p:nvPr>
        </p:nvSpPr>
        <p:spPr>
          <a:xfrm>
            <a:off x="700635" y="914400"/>
            <a:ext cx="10691265" cy="1307592"/>
          </a:xfrm>
        </p:spPr>
        <p:txBody>
          <a:bodyPr wrap="square" anchor="t">
            <a:normAutofit/>
          </a:bodyPr>
          <a:lstStyle/>
          <a:p>
            <a:r>
              <a:rPr lang="en-US" dirty="0"/>
              <a:t>Coupled Thermal–Electrical Model</a:t>
            </a:r>
          </a:p>
        </p:txBody>
      </p:sp>
      <p:sp>
        <p:nvSpPr>
          <p:cNvPr id="7" name="Text Placeholder 2">
            <a:extLst>
              <a:ext uri="{FF2B5EF4-FFF2-40B4-BE49-F238E27FC236}">
                <a16:creationId xmlns:a16="http://schemas.microsoft.com/office/drawing/2014/main" id="{D45097FB-872D-D153-B3B5-1CE1056278A7}"/>
              </a:ext>
            </a:extLst>
          </p:cNvPr>
          <p:cNvSpPr>
            <a:spLocks noGrp="1"/>
          </p:cNvSpPr>
          <p:nvPr>
            <p:ph type="body" idx="1"/>
          </p:nvPr>
        </p:nvSpPr>
        <p:spPr>
          <a:xfrm>
            <a:off x="700635" y="2221992"/>
            <a:ext cx="10691265" cy="3739896"/>
          </a:xfrm>
        </p:spPr>
        <p:txBody>
          <a:bodyPr/>
          <a:lstStyle/>
          <a:p>
            <a:r>
              <a:rPr lang="en-US" dirty="0"/>
              <a:t>Currently, the electrical efficiency </a:t>
            </a:r>
            <a:r>
              <a:rPr lang="en-US" dirty="0" err="1"/>
              <a:t>η</a:t>
            </a:r>
            <a:r>
              <a:rPr lang="en-US" dirty="0"/>
              <a:t> is treated as a constant 18%. </a:t>
            </a:r>
          </a:p>
          <a:p>
            <a:r>
              <a:rPr lang="en-US" dirty="0"/>
              <a:t>In practice, </a:t>
            </a:r>
            <a:r>
              <a:rPr lang="en-US" dirty="0" err="1"/>
              <a:t>η</a:t>
            </a:r>
            <a:r>
              <a:rPr lang="en-US" dirty="0"/>
              <a:t> decreases linearly with temperature: </a:t>
            </a:r>
            <a:r>
              <a:rPr lang="en-US" dirty="0" err="1"/>
              <a:t>η</a:t>
            </a:r>
            <a:r>
              <a:rPr lang="en-US" dirty="0"/>
              <a:t>(T) = </a:t>
            </a:r>
            <a:r>
              <a:rPr lang="en-US" dirty="0" err="1"/>
              <a:t>η</a:t>
            </a:r>
            <a:r>
              <a:rPr lang="en-US" dirty="0"/>
              <a:t>ₛᵗᶜ [1 − β(T − Tₛᵗᶜ)], where β ≈ 0.0045/K ≈ 0.45%/K for silicon. </a:t>
            </a:r>
          </a:p>
        </p:txBody>
      </p:sp>
    </p:spTree>
    <p:extLst>
      <p:ext uri="{BB962C8B-B14F-4D97-AF65-F5344CB8AC3E}">
        <p14:creationId xmlns:p14="http://schemas.microsoft.com/office/powerpoint/2010/main" val="3979002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98A06-0A0F-C9D3-A2F3-F6F356C91441}"/>
              </a:ext>
            </a:extLst>
          </p:cNvPr>
          <p:cNvSpPr>
            <a:spLocks noGrp="1"/>
          </p:cNvSpPr>
          <p:nvPr>
            <p:ph type="title"/>
          </p:nvPr>
        </p:nvSpPr>
        <p:spPr>
          <a:xfrm>
            <a:off x="700635" y="914400"/>
            <a:ext cx="10691265" cy="1307592"/>
          </a:xfrm>
        </p:spPr>
        <p:txBody>
          <a:bodyPr wrap="square" anchor="t">
            <a:normAutofit/>
          </a:bodyPr>
          <a:lstStyle/>
          <a:p>
            <a:pPr>
              <a:lnSpc>
                <a:spcPct val="90000"/>
              </a:lnSpc>
            </a:pPr>
            <a:r>
              <a:rPr lang="en-US" dirty="0"/>
              <a:t>Time-Varying Irradiance and Diurnal Modeling</a:t>
            </a:r>
            <a:endParaRPr lang="en-US"/>
          </a:p>
        </p:txBody>
      </p:sp>
      <p:sp>
        <p:nvSpPr>
          <p:cNvPr id="7" name="Text Placeholder 2">
            <a:extLst>
              <a:ext uri="{FF2B5EF4-FFF2-40B4-BE49-F238E27FC236}">
                <a16:creationId xmlns:a16="http://schemas.microsoft.com/office/drawing/2014/main" id="{FCF691FF-0D49-1547-E456-B48699532BC4}"/>
              </a:ext>
            </a:extLst>
          </p:cNvPr>
          <p:cNvSpPr>
            <a:spLocks noGrp="1"/>
          </p:cNvSpPr>
          <p:nvPr>
            <p:ph type="body" idx="1"/>
          </p:nvPr>
        </p:nvSpPr>
        <p:spPr>
          <a:xfrm>
            <a:off x="700635" y="2221992"/>
            <a:ext cx="10691265" cy="3739896"/>
          </a:xfrm>
        </p:spPr>
        <p:txBody>
          <a:bodyPr>
            <a:normAutofit/>
          </a:bodyPr>
          <a:lstStyle/>
          <a:p>
            <a:r>
              <a:rPr lang="en-US" dirty="0"/>
              <a:t>The current model assumes constant peak irradiance G = 1000 W/m², which is only achieved at solar noon. </a:t>
            </a:r>
          </a:p>
          <a:p>
            <a:r>
              <a:rPr lang="en-US" dirty="0"/>
              <a:t>A more realistic model would replace G with a time-dependent function such as G(t) = G₀ sin²(πt/Tᴀᴀᵧ), where Tᴀᴀᵧ is the day length. </a:t>
            </a:r>
          </a:p>
        </p:txBody>
      </p:sp>
    </p:spTree>
    <p:extLst>
      <p:ext uri="{BB962C8B-B14F-4D97-AF65-F5344CB8AC3E}">
        <p14:creationId xmlns:p14="http://schemas.microsoft.com/office/powerpoint/2010/main" val="1268067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7052-2D5F-BE96-8FE4-527EFEC7B424}"/>
              </a:ext>
            </a:extLst>
          </p:cNvPr>
          <p:cNvSpPr>
            <a:spLocks noGrp="1"/>
          </p:cNvSpPr>
          <p:nvPr>
            <p:ph type="title"/>
          </p:nvPr>
        </p:nvSpPr>
        <p:spPr>
          <a:xfrm>
            <a:off x="700635" y="914400"/>
            <a:ext cx="10691265" cy="1307592"/>
          </a:xfrm>
        </p:spPr>
        <p:txBody>
          <a:bodyPr wrap="square" anchor="t">
            <a:normAutofit/>
          </a:bodyPr>
          <a:lstStyle/>
          <a:p>
            <a:pPr>
              <a:lnSpc>
                <a:spcPct val="90000"/>
              </a:lnSpc>
            </a:pPr>
            <a:r>
              <a:rPr lang="en-US" sz="3100"/>
              <a:t>Accounting for Changes in Atmospheric Properties with Boltzmann Transport Equations and Navier Stokes</a:t>
            </a:r>
          </a:p>
        </p:txBody>
      </p:sp>
      <p:sp>
        <p:nvSpPr>
          <p:cNvPr id="7" name="Text Placeholder 2">
            <a:extLst>
              <a:ext uri="{FF2B5EF4-FFF2-40B4-BE49-F238E27FC236}">
                <a16:creationId xmlns:a16="http://schemas.microsoft.com/office/drawing/2014/main" id="{C41F9231-B28E-DFC0-D91E-4F1B9E190DF1}"/>
              </a:ext>
            </a:extLst>
          </p:cNvPr>
          <p:cNvSpPr>
            <a:spLocks noGrp="1"/>
          </p:cNvSpPr>
          <p:nvPr>
            <p:ph type="body" idx="1"/>
          </p:nvPr>
        </p:nvSpPr>
        <p:spPr>
          <a:xfrm>
            <a:off x="700635" y="2221992"/>
            <a:ext cx="10691265" cy="3739896"/>
          </a:xfrm>
        </p:spPr>
        <p:txBody>
          <a:bodyPr>
            <a:normAutofit/>
          </a:bodyPr>
          <a:lstStyle/>
          <a:p>
            <a:r>
              <a:rPr lang="en-US" dirty="0"/>
              <a:t>The current model ignores how atmospheric composition such as humidity, aerosols, and air density modifies both radiative input and convective heat loss.</a:t>
            </a:r>
          </a:p>
          <a:p>
            <a:r>
              <a:rPr lang="en-US" dirty="0"/>
              <a:t>Coupling both to the ODE would require a full multi-physics solver (FEM or FVM) but would yield the most physically accurate temperature predictions under real-world deployment conditions.</a:t>
            </a:r>
          </a:p>
        </p:txBody>
      </p:sp>
    </p:spTree>
    <p:extLst>
      <p:ext uri="{BB962C8B-B14F-4D97-AF65-F5344CB8AC3E}">
        <p14:creationId xmlns:p14="http://schemas.microsoft.com/office/powerpoint/2010/main" val="1297672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9E9D-202F-5125-E5F0-9CC0EBB006E8}"/>
              </a:ext>
            </a:extLst>
          </p:cNvPr>
          <p:cNvSpPr>
            <a:spLocks noGrp="1"/>
          </p:cNvSpPr>
          <p:nvPr>
            <p:ph type="title"/>
          </p:nvPr>
        </p:nvSpPr>
        <p:spPr>
          <a:xfrm>
            <a:off x="700635" y="914400"/>
            <a:ext cx="10691265" cy="1307592"/>
          </a:xfrm>
        </p:spPr>
        <p:txBody>
          <a:bodyPr spcFirstLastPara="1" wrap="square" lIns="91425" tIns="45700" rIns="91425" bIns="45700" anchor="t" anchorCtr="0">
            <a:normAutofit/>
          </a:bodyPr>
          <a:lstStyle/>
          <a:p>
            <a:r>
              <a:rPr lang="en-US" b="0" i="0" u="none" strike="noStrike" cap="none">
                <a:latin typeface="Open Sans"/>
                <a:ea typeface="Open Sans"/>
                <a:cs typeface="Open Sans"/>
                <a:sym typeface="Open Sans"/>
              </a:rPr>
              <a:t>Conclusion</a:t>
            </a:r>
          </a:p>
        </p:txBody>
      </p:sp>
      <p:sp>
        <p:nvSpPr>
          <p:cNvPr id="7" name="Text Placeholder 2">
            <a:extLst>
              <a:ext uri="{FF2B5EF4-FFF2-40B4-BE49-F238E27FC236}">
                <a16:creationId xmlns:a16="http://schemas.microsoft.com/office/drawing/2014/main" id="{D92B31EC-5FEF-9B19-EBFA-01F8DBEFBBB0}"/>
              </a:ext>
            </a:extLst>
          </p:cNvPr>
          <p:cNvSpPr>
            <a:spLocks noGrp="1"/>
          </p:cNvSpPr>
          <p:nvPr>
            <p:ph type="body" idx="1"/>
          </p:nvPr>
        </p:nvSpPr>
        <p:spPr>
          <a:xfrm>
            <a:off x="704088" y="2221992"/>
            <a:ext cx="5212080" cy="3739896"/>
          </a:xfrm>
        </p:spPr>
        <p:txBody>
          <a:bodyPr spcFirstLastPara="1" wrap="square" lIns="91425" tIns="45700" rIns="91425" bIns="45700" anchor="t" anchorCtr="0">
            <a:normAutofit fontScale="92500"/>
          </a:bodyPr>
          <a:lstStyle/>
          <a:p>
            <a:pPr>
              <a:lnSpc>
                <a:spcPct val="100000"/>
              </a:lnSpc>
            </a:pPr>
            <a:r>
              <a:rPr lang="en-US" sz="1600" b="0" i="0" u="none" strike="noStrike" cap="none" dirty="0">
                <a:latin typeface="Lustria"/>
                <a:ea typeface="Lustria"/>
                <a:cs typeface="Lustria"/>
                <a:sym typeface="Lustria"/>
              </a:rPr>
              <a:t>Both Forward Euler (O(h)) and Improved Euler (O(h²)) converge to the closed-form exact solution for the linear ODE; Improved Euler consistently outperforms Forward Euler at every step-size tested (37, 73, 361 points), requiring far fewer points for the same accuracy.</a:t>
            </a:r>
          </a:p>
          <a:p>
            <a:pPr>
              <a:lnSpc>
                <a:spcPct val="100000"/>
              </a:lnSpc>
            </a:pPr>
            <a:r>
              <a:rPr lang="en-US" sz="1600" b="0" i="0" u="none" strike="noStrike" cap="none" dirty="0">
                <a:latin typeface="Lustria"/>
                <a:ea typeface="Lustria"/>
                <a:cs typeface="Lustria"/>
                <a:sym typeface="Lustria"/>
              </a:rPr>
              <a:t>The nonlinear ODE (Stefan-Boltzmann radiation term) has no closed-form solution; both methods still converge as step-size decreases, and direction-field analysis confirms the same qualitative equilibrium temperature as the linear case.</a:t>
            </a:r>
          </a:p>
          <a:p>
            <a:pPr>
              <a:lnSpc>
                <a:spcPct val="100000"/>
              </a:lnSpc>
            </a:pPr>
            <a:r>
              <a:rPr lang="en-US" sz="1600" b="0" i="0" u="none" strike="noStrike" cap="none" dirty="0">
                <a:latin typeface="Lustria"/>
                <a:ea typeface="Lustria"/>
                <a:cs typeface="Lustria"/>
                <a:sym typeface="Lustria"/>
              </a:rPr>
              <a:t>Future work would progressively close the gap between this model and real-world PV cell behavior.</a:t>
            </a:r>
          </a:p>
        </p:txBody>
      </p:sp>
      <p:sp>
        <p:nvSpPr>
          <p:cNvPr id="4" name="TextBox 3">
            <a:extLst>
              <a:ext uri="{FF2B5EF4-FFF2-40B4-BE49-F238E27FC236}">
                <a16:creationId xmlns:a16="http://schemas.microsoft.com/office/drawing/2014/main" id="{257DBC60-A7B3-85D6-5F1B-2CA0A28279F1}"/>
              </a:ext>
            </a:extLst>
          </p:cNvPr>
          <p:cNvSpPr txBox="1"/>
          <p:nvPr/>
        </p:nvSpPr>
        <p:spPr>
          <a:xfrm>
            <a:off x="6181344" y="2221992"/>
            <a:ext cx="5212080" cy="3739896"/>
          </a:xfrm>
          <a:prstGeom prst="rect">
            <a:avLst/>
          </a:prstGeom>
          <a:noFill/>
          <a:ln>
            <a:noFill/>
          </a:ln>
        </p:spPr>
        <p:txBody>
          <a:bodyPr spcFirstLastPara="1" wrap="square" lIns="91425" tIns="45700" rIns="91425" bIns="45700" anchor="t" anchorCtr="0">
            <a:normAutofit fontScale="85000" lnSpcReduction="10000"/>
          </a:bodyPr>
          <a:lstStyle/>
          <a:p>
            <a:pPr marL="114300">
              <a:spcBef>
                <a:spcPts val="1000"/>
              </a:spcBef>
              <a:buClr>
                <a:schemeClr val="dk1"/>
              </a:buClr>
              <a:buSzPts val="1800"/>
            </a:pPr>
            <a:r>
              <a:rPr lang="en-US" sz="1600" b="0" i="0" u="none" strike="noStrike" cap="none" dirty="0">
                <a:solidFill>
                  <a:schemeClr val="dk1"/>
                </a:solidFill>
                <a:latin typeface="Lustria"/>
                <a:ea typeface="Lustria"/>
                <a:cs typeface="Lustria"/>
                <a:sym typeface="Lustria"/>
              </a:rPr>
              <a:t>Citations:</a:t>
            </a:r>
          </a:p>
          <a:p>
            <a:pPr marL="457200" indent="-342900">
              <a:spcBef>
                <a:spcPts val="1000"/>
              </a:spcBef>
              <a:buClr>
                <a:schemeClr val="dk1"/>
              </a:buClr>
              <a:buSzPts val="1800"/>
              <a:buFont typeface="Arial"/>
              <a:buChar char="•"/>
            </a:pPr>
            <a:r>
              <a:rPr lang="en-US" sz="1600" b="0" i="0" u="none" strike="noStrike" cap="none" dirty="0">
                <a:solidFill>
                  <a:schemeClr val="dk1"/>
                </a:solidFill>
                <a:latin typeface="Lustria"/>
                <a:ea typeface="Lustria"/>
                <a:cs typeface="Lustria"/>
                <a:sym typeface="Lustria"/>
              </a:rPr>
              <a:t>[1] Boyce, W. E., DiPrima, R. C., &amp; Meade, D. B. (2017). Elementary Differential Equations and Boundary Value Problems (11th ed.). Wiley.</a:t>
            </a:r>
          </a:p>
          <a:p>
            <a:pPr marL="457200" indent="-342900">
              <a:spcBef>
                <a:spcPts val="1000"/>
              </a:spcBef>
              <a:buClr>
                <a:schemeClr val="dk1"/>
              </a:buClr>
              <a:buSzPts val="1800"/>
              <a:buFont typeface="Arial"/>
              <a:buChar char="•"/>
            </a:pPr>
            <a:r>
              <a:rPr lang="en-US" sz="1600" b="0" i="0" u="none" strike="noStrike" cap="none" dirty="0">
                <a:solidFill>
                  <a:schemeClr val="dk1"/>
                </a:solidFill>
                <a:latin typeface="Lustria"/>
                <a:ea typeface="Lustria"/>
                <a:cs typeface="Lustria"/>
                <a:sym typeface="Lustria"/>
              </a:rPr>
              <a:t>[2] Williams, T. &amp; Kelley, C. (2023). </a:t>
            </a:r>
            <a:r>
              <a:rPr lang="en-US" sz="1600" b="0" i="0" u="none" strike="noStrike" cap="none" dirty="0" err="1">
                <a:solidFill>
                  <a:schemeClr val="dk1"/>
                </a:solidFill>
                <a:latin typeface="Lustria"/>
                <a:ea typeface="Lustria"/>
                <a:cs typeface="Lustria"/>
                <a:sym typeface="Lustria"/>
              </a:rPr>
              <a:t>Gnuplot</a:t>
            </a:r>
            <a:r>
              <a:rPr lang="en-US" sz="1600" b="0" i="0" u="none" strike="noStrike" cap="none" dirty="0">
                <a:solidFill>
                  <a:schemeClr val="dk1"/>
                </a:solidFill>
                <a:latin typeface="Lustria"/>
                <a:ea typeface="Lustria"/>
                <a:cs typeface="Lustria"/>
                <a:sym typeface="Lustria"/>
              </a:rPr>
              <a:t> 5.4: An Interactive Plotting Program. http://</a:t>
            </a:r>
            <a:r>
              <a:rPr lang="en-US" sz="1600" b="0" i="0" u="none" strike="noStrike" cap="none" dirty="0" err="1">
                <a:solidFill>
                  <a:schemeClr val="dk1"/>
                </a:solidFill>
                <a:latin typeface="Lustria"/>
                <a:ea typeface="Lustria"/>
                <a:cs typeface="Lustria"/>
                <a:sym typeface="Lustria"/>
              </a:rPr>
              <a:t>www.gnuplot.info</a:t>
            </a:r>
            <a:endParaRPr lang="en-US" sz="1600" b="0" i="0" u="none" strike="noStrike" cap="none" dirty="0">
              <a:solidFill>
                <a:schemeClr val="dk1"/>
              </a:solidFill>
              <a:latin typeface="Lustria"/>
              <a:ea typeface="Lustria"/>
              <a:cs typeface="Lustria"/>
              <a:sym typeface="Lustria"/>
            </a:endParaRPr>
          </a:p>
          <a:p>
            <a:pPr marL="457200" indent="-342900">
              <a:spcBef>
                <a:spcPts val="1000"/>
              </a:spcBef>
              <a:buClr>
                <a:schemeClr val="dk1"/>
              </a:buClr>
              <a:buSzPts val="1800"/>
              <a:buFont typeface="Arial"/>
              <a:buChar char="•"/>
            </a:pPr>
            <a:r>
              <a:rPr lang="en-US" sz="1600" b="0" i="0" u="none" strike="noStrike" cap="none" dirty="0">
                <a:solidFill>
                  <a:schemeClr val="dk1"/>
                </a:solidFill>
                <a:latin typeface="Lustria"/>
                <a:ea typeface="Lustria"/>
                <a:cs typeface="Lustria"/>
                <a:sym typeface="Lustria"/>
              </a:rPr>
              <a:t>[3] Chapman, S. J. (2018). Fortran for Scientists and Engineers (4th ed.). McGraw-Hill.</a:t>
            </a:r>
          </a:p>
          <a:p>
            <a:pPr marL="457200" indent="-342900">
              <a:spcBef>
                <a:spcPts val="1000"/>
              </a:spcBef>
              <a:buClr>
                <a:schemeClr val="dk1"/>
              </a:buClr>
              <a:buSzPts val="1800"/>
              <a:buFont typeface="Arial"/>
              <a:buChar char="•"/>
            </a:pPr>
            <a:r>
              <a:rPr lang="en-US" sz="1600" b="0" i="0" u="none" strike="noStrike" cap="none" dirty="0">
                <a:solidFill>
                  <a:schemeClr val="dk1"/>
                </a:solidFill>
                <a:latin typeface="Lustria"/>
                <a:ea typeface="Lustria"/>
                <a:cs typeface="Lustria"/>
                <a:sym typeface="Lustria"/>
              </a:rPr>
              <a:t>[4] </a:t>
            </a:r>
            <a:r>
              <a:rPr lang="en-US" sz="1600" b="0" i="0" u="none" strike="noStrike" cap="none" dirty="0" err="1">
                <a:solidFill>
                  <a:schemeClr val="dk1"/>
                </a:solidFill>
                <a:latin typeface="Lustria"/>
                <a:ea typeface="Lustria"/>
                <a:cs typeface="Lustria"/>
                <a:sym typeface="Lustria"/>
              </a:rPr>
              <a:t>Skoplaki</a:t>
            </a:r>
            <a:r>
              <a:rPr lang="en-US" sz="1600" b="0" i="0" u="none" strike="noStrike" cap="none" dirty="0">
                <a:solidFill>
                  <a:schemeClr val="dk1"/>
                </a:solidFill>
                <a:latin typeface="Lustria"/>
                <a:ea typeface="Lustria"/>
                <a:cs typeface="Lustria"/>
                <a:sym typeface="Lustria"/>
              </a:rPr>
              <a:t>, E. &amp; </a:t>
            </a:r>
            <a:r>
              <a:rPr lang="en-US" sz="1600" b="0" i="0" u="none" strike="noStrike" cap="none" dirty="0" err="1">
                <a:solidFill>
                  <a:schemeClr val="dk1"/>
                </a:solidFill>
                <a:latin typeface="Lustria"/>
                <a:ea typeface="Lustria"/>
                <a:cs typeface="Lustria"/>
                <a:sym typeface="Lustria"/>
              </a:rPr>
              <a:t>Palyvos</a:t>
            </a:r>
            <a:r>
              <a:rPr lang="en-US" sz="1600" b="0" i="0" u="none" strike="noStrike" cap="none" dirty="0">
                <a:solidFill>
                  <a:schemeClr val="dk1"/>
                </a:solidFill>
                <a:latin typeface="Lustria"/>
                <a:ea typeface="Lustria"/>
                <a:cs typeface="Lustria"/>
                <a:sym typeface="Lustria"/>
              </a:rPr>
              <a:t>, J. A. (2009). On the temperature dependence of photovoltaic module electrical performance. Solar Energy, 83(5), 614–624.</a:t>
            </a:r>
          </a:p>
          <a:p>
            <a:pPr marL="457200" indent="-342900">
              <a:spcBef>
                <a:spcPts val="1000"/>
              </a:spcBef>
              <a:buClr>
                <a:schemeClr val="dk1"/>
              </a:buClr>
              <a:buSzPts val="1800"/>
              <a:buFont typeface="Arial"/>
              <a:buChar char="•"/>
            </a:pPr>
            <a:r>
              <a:rPr lang="en-US" sz="1600" dirty="0">
                <a:solidFill>
                  <a:schemeClr val="dk1"/>
                </a:solidFill>
                <a:latin typeface="Lustria"/>
                <a:ea typeface="Lustria"/>
                <a:cs typeface="Lustria"/>
                <a:sym typeface="Lustria"/>
              </a:rPr>
              <a:t>[5] Campagna, W. (2025). Atmosphere-Unified Radiation Assessment with Multi-Fidelity for Photovoltaics. https://</a:t>
            </a:r>
            <a:r>
              <a:rPr lang="en-US" sz="1600" dirty="0" err="1">
                <a:solidFill>
                  <a:schemeClr val="dk1"/>
                </a:solidFill>
                <a:latin typeface="Lustria"/>
                <a:ea typeface="Lustria"/>
                <a:cs typeface="Lustria"/>
                <a:sym typeface="Lustria"/>
              </a:rPr>
              <a:t>github.com</a:t>
            </a:r>
            <a:r>
              <a:rPr lang="en-US" sz="1600" dirty="0">
                <a:solidFill>
                  <a:schemeClr val="dk1"/>
                </a:solidFill>
                <a:latin typeface="Lustria"/>
                <a:ea typeface="Lustria"/>
                <a:cs typeface="Lustria"/>
                <a:sym typeface="Lustria"/>
              </a:rPr>
              <a:t>/THMSCMPG/AURA-MFP</a:t>
            </a:r>
            <a:endParaRPr lang="en-US" sz="1600" b="0" i="0" u="none" strike="noStrike" cap="none" dirty="0">
              <a:solidFill>
                <a:schemeClr val="dk1"/>
              </a:solidFill>
              <a:latin typeface="Lustria"/>
              <a:ea typeface="Lustria"/>
              <a:cs typeface="Lustria"/>
              <a:sym typeface="Lustria"/>
            </a:endParaRPr>
          </a:p>
        </p:txBody>
      </p:sp>
    </p:spTree>
    <p:extLst>
      <p:ext uri="{BB962C8B-B14F-4D97-AF65-F5344CB8AC3E}">
        <p14:creationId xmlns:p14="http://schemas.microsoft.com/office/powerpoint/2010/main" val="113936059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1478</Words>
  <Application>Microsoft Macintosh PowerPoint</Application>
  <PresentationFormat>Widescreen</PresentationFormat>
  <Paragraphs>90</Paragraphs>
  <Slides>20</Slides>
  <Notes>20</Notes>
  <HiddenSlides>0</HiddenSlides>
  <MMClips>1</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20</vt:i4>
      </vt:variant>
    </vt:vector>
  </HeadingPairs>
  <TitlesOfParts>
    <vt:vector size="27" baseType="lpstr">
      <vt:lpstr>Lustria</vt:lpstr>
      <vt:lpstr>Arial</vt:lpstr>
      <vt:lpstr>Play</vt:lpstr>
      <vt:lpstr>Open Sans</vt:lpstr>
      <vt:lpstr>Office Theme</vt:lpstr>
      <vt:lpstr>ChronicleVTI</vt:lpstr>
      <vt:lpstr>ChronicleVTI</vt:lpstr>
      <vt:lpstr>Investigating Approximations for the Linear and Non-Linear First Order Differential Equation Describing the Operating Temperature of a Photovoltaic Cell.</vt:lpstr>
      <vt:lpstr>PHYSICAL PARAMETERS</vt:lpstr>
      <vt:lpstr>EQUATION FOR LINEAR ODE</vt:lpstr>
      <vt:lpstr>EXACT SOLUTION</vt:lpstr>
      <vt:lpstr>EQUATION FOR NONLINEAR ODE</vt:lpstr>
      <vt:lpstr>NUMERICAL PARAMETERS</vt:lpstr>
      <vt:lpstr>LINEAR ODE CODE</vt:lpstr>
      <vt:lpstr>NON-LINEAR ODE CODE</vt:lpstr>
      <vt:lpstr>37 POINTS</vt:lpstr>
      <vt:lpstr>73 POINTS</vt:lpstr>
      <vt:lpstr>361 POINTS</vt:lpstr>
      <vt:lpstr>PowerPoint Presentation</vt:lpstr>
      <vt:lpstr>PowerPoint Presentation</vt:lpstr>
      <vt:lpstr>Future Research into Computational Solutions</vt:lpstr>
      <vt:lpstr>Higher-Order Numerical Methods (RK4)</vt:lpstr>
      <vt:lpstr>Monte Carlo Uncertainty Quantification</vt:lpstr>
      <vt:lpstr>Coupled Thermal–Electrical Model</vt:lpstr>
      <vt:lpstr>Time-Varying Irradiance and Diurnal Modeling</vt:lpstr>
      <vt:lpstr>Accounting for Changes in Atmospheric Properties with Boltzmann Transport Equations and Navier Stokes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Thomas Campagna</dc:creator>
  <cp:lastModifiedBy>Thomas Campagna</cp:lastModifiedBy>
  <cp:revision>12</cp:revision>
  <dcterms:created xsi:type="dcterms:W3CDTF">2026-03-31T19:36:07Z</dcterms:created>
  <dcterms:modified xsi:type="dcterms:W3CDTF">2026-04-11T15:34:25Z</dcterms:modified>
</cp:coreProperties>
</file>